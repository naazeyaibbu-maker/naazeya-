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</p:sldIdLst>
  <p:sldSz type="screen16x9" cy="6858000" cx="12192000"/>
  <p:notesSz cx="12192000" cy="6858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showOutlineIcons="0">
    <p:restoredLeft sz="15620"/>
    <p:restoredTop sz="98387" autoAdjust="0"/>
  </p:normalViewPr>
  <p:slideViewPr>
    <p:cSldViewPr>
      <p:cViewPr varScale="1">
        <p:scale>
          <a:sx n="63" d="100"/>
          <a:sy n="63" d="100"/>
        </p:scale>
        <p:origin x="-120" y="-29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tableStyles" Target="tableStyles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734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84B86612-B127-4CD0-BF15-66D49A7175F7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1048735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IN"/>
          </a:p>
        </p:txBody>
      </p:sp>
      <p:sp>
        <p:nvSpPr>
          <p:cNvPr id="104873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3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73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F7F439ED-1E90-4106-847A-8EF19031FE2F}" type="slidenum">
              <a:rPr lang="en-IN" smtClean="0"/>
              <a:t>‹#›</a:t>
            </a:fld>
            <a:endParaRPr lang="en-I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9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IN"/>
          </a:p>
        </p:txBody>
      </p:sp>
      <p:sp>
        <p:nvSpPr>
          <p:cNvPr id="1048595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F7F439ED-1E90-4106-847A-8EF19031FE2F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18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endParaRPr dirty="0" lang="en-US"/>
          </a:p>
        </p:txBody>
      </p:sp>
      <p:sp>
        <p:nvSpPr>
          <p:cNvPr id="104861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F439ED-1E90-4106-847A-8EF19031FE2F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pc="10" smtClean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dirty="0" lang="en-US" spc="1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90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9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104869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9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pc="10" smtClean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dirty="0" lang="en-US" spc="1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Title 1"/>
          <p:cNvSpPr>
            <a:spLocks noGrp="1"/>
          </p:cNvSpPr>
          <p:nvPr>
            <p:ph type="title"/>
          </p:nvPr>
        </p:nvSpPr>
        <p:spPr>
          <a:xfrm>
            <a:off x="963084" y="4406907"/>
            <a:ext cx="103632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06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0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104870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0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pc="10" smtClean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dirty="0" lang="en-US" spc="1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11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12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1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104871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1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pc="10" smtClean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dirty="0" lang="en-US" spc="1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17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18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1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20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21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1048722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23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pc="10" smtClean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dirty="0" lang="en-US" spc="1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9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104859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9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pc="10" smtClean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dirty="0" lang="en-US" spc="1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104872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2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pc="10" smtClean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dirty="0" lang="en-US" spc="1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7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28" name="Content Placeholder 2"/>
          <p:cNvSpPr>
            <a:spLocks noGrp="1"/>
          </p:cNvSpPr>
          <p:nvPr>
            <p:ph idx="1"/>
          </p:nvPr>
        </p:nvSpPr>
        <p:spPr>
          <a:xfrm>
            <a:off x="4766733" y="273057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29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3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104873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3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pc="10" smtClean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dirty="0" lang="en-US" spc="1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95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96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9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104869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9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pc="10" smtClean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dirty="0" lang="en-US" spc="1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01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0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104870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0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pc="10" smtClean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dirty="0" lang="en-US" spc="1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5"/>
            <a:ext cx="27432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8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5"/>
            <a:ext cx="80264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8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104868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8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pc="10" smtClean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dirty="0" lang="en-US" spc="10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6"/>
            <a:ext cx="109728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7"/>
            <a:ext cx="28448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7"/>
            <a:ext cx="3860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7"/>
            <a:ext cx="28448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pc="10" smtClean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dirty="0" lang="en-US" spc="10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6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6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object 2"/>
          <p:cNvGrpSpPr/>
          <p:nvPr/>
        </p:nvGrpSpPr>
        <p:grpSpPr>
          <a:xfrm>
            <a:off x="876299" y="990600"/>
            <a:ext cx="1743075" cy="1333500"/>
            <a:chOff x="742950" y="1104900"/>
            <a:chExt cx="1743075" cy="1333500"/>
          </a:xfrm>
        </p:grpSpPr>
        <p:sp>
          <p:nvSpPr>
            <p:cNvPr id="1048586" name="object 3"/>
            <p:cNvSpPr/>
            <p:nvPr/>
          </p:nvSpPr>
          <p:spPr>
            <a:xfrm>
              <a:off x="742950" y="1381125"/>
              <a:ext cx="1228725" cy="1057275"/>
            </a:xfrm>
            <a:custGeom>
              <a:avLst/>
              <a:ahLst/>
              <a:rect l="l" t="t" r="r" b="b"/>
              <a:pathLst>
                <a:path w="1228725" h="1057275">
                  <a:moveTo>
                    <a:pt x="964438" y="0"/>
                  </a:moveTo>
                  <a:lnTo>
                    <a:pt x="264312" y="0"/>
                  </a:lnTo>
                  <a:lnTo>
                    <a:pt x="0" y="528701"/>
                  </a:lnTo>
                  <a:lnTo>
                    <a:pt x="264312" y="1057275"/>
                  </a:lnTo>
                  <a:lnTo>
                    <a:pt x="964438" y="1057275"/>
                  </a:lnTo>
                  <a:lnTo>
                    <a:pt x="1228725" y="528701"/>
                  </a:lnTo>
                  <a:lnTo>
                    <a:pt x="964438" y="0"/>
                  </a:lnTo>
                  <a:close/>
                </a:path>
              </a:pathLst>
            </a:custGeom>
            <a:solidFill>
              <a:srgbClr val="5FCAEE"/>
            </a:solidFill>
          </p:spPr>
          <p:txBody>
            <a:bodyPr bIns="0" lIns="0" rIns="0" rtlCol="0" tIns="0" wrap="square"/>
            <a:p/>
          </p:txBody>
        </p:sp>
        <p:sp>
          <p:nvSpPr>
            <p:cNvPr id="1048587" name="object 4"/>
            <p:cNvSpPr/>
            <p:nvPr/>
          </p:nvSpPr>
          <p:spPr>
            <a:xfrm>
              <a:off x="1838325" y="1104900"/>
              <a:ext cx="647700" cy="561975"/>
            </a:xfrm>
            <a:custGeom>
              <a:avLst/>
              <a:ahLst/>
              <a:rect l="l" t="t" r="r" b="b"/>
              <a:pathLst>
                <a:path w="647700" h="561975">
                  <a:moveTo>
                    <a:pt x="507238" y="0"/>
                  </a:moveTo>
                  <a:lnTo>
                    <a:pt x="140462" y="0"/>
                  </a:lnTo>
                  <a:lnTo>
                    <a:pt x="0" y="280924"/>
                  </a:lnTo>
                  <a:lnTo>
                    <a:pt x="140462" y="561975"/>
                  </a:lnTo>
                  <a:lnTo>
                    <a:pt x="507238" y="561975"/>
                  </a:lnTo>
                  <a:lnTo>
                    <a:pt x="647700" y="280924"/>
                  </a:lnTo>
                  <a:lnTo>
                    <a:pt x="507238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bIns="0" lIns="0" rIns="0" rtlCol="0" tIns="0" wrap="square"/>
            <a:p/>
          </p:txBody>
        </p:sp>
      </p:grpSp>
      <p:sp>
        <p:nvSpPr>
          <p:cNvPr id="1048588" name="object 5"/>
          <p:cNvSpPr/>
          <p:nvPr/>
        </p:nvSpPr>
        <p:spPr>
          <a:xfrm>
            <a:off x="3752850" y="1190625"/>
            <a:ext cx="1666875" cy="1438275"/>
          </a:xfrm>
          <a:custGeom>
            <a:avLst/>
            <a:ahLst/>
            <a:rect l="l" t="t" r="r" b="b"/>
            <a:pathLst>
              <a:path w="1666875" h="1438275">
                <a:moveTo>
                  <a:pt x="1307338" y="0"/>
                </a:moveTo>
                <a:lnTo>
                  <a:pt x="359537" y="0"/>
                </a:lnTo>
                <a:lnTo>
                  <a:pt x="0" y="719074"/>
                </a:lnTo>
                <a:lnTo>
                  <a:pt x="359537" y="1438275"/>
                </a:lnTo>
                <a:lnTo>
                  <a:pt x="1307338" y="1438275"/>
                </a:lnTo>
                <a:lnTo>
                  <a:pt x="1666875" y="719074"/>
                </a:lnTo>
                <a:lnTo>
                  <a:pt x="1307338" y="0"/>
                </a:lnTo>
                <a:close/>
              </a:path>
            </a:pathLst>
          </a:custGeom>
          <a:solidFill>
            <a:srgbClr val="42D0A1"/>
          </a:solidFill>
        </p:spPr>
        <p:txBody>
          <a:bodyPr bIns="0" lIns="0" rIns="0" rtlCol="0" tIns="0" wrap="square"/>
          <a:p/>
        </p:txBody>
      </p:sp>
      <p:sp>
        <p:nvSpPr>
          <p:cNvPr id="1048589" name="object 6"/>
          <p:cNvSpPr/>
          <p:nvPr/>
        </p:nvSpPr>
        <p:spPr>
          <a:xfrm>
            <a:off x="3800475" y="5229225"/>
            <a:ext cx="723900" cy="619125"/>
          </a:xfrm>
          <a:custGeom>
            <a:avLst/>
            <a:ahLst/>
            <a:rect l="l" t="t" r="r" b="b"/>
            <a:pathLst>
              <a:path w="723900" h="619125">
                <a:moveTo>
                  <a:pt x="569087" y="0"/>
                </a:moveTo>
                <a:lnTo>
                  <a:pt x="154812" y="0"/>
                </a:lnTo>
                <a:lnTo>
                  <a:pt x="0" y="309625"/>
                </a:lnTo>
                <a:lnTo>
                  <a:pt x="154812" y="619125"/>
                </a:lnTo>
                <a:lnTo>
                  <a:pt x="569087" y="619125"/>
                </a:lnTo>
                <a:lnTo>
                  <a:pt x="723900" y="309625"/>
                </a:lnTo>
                <a:lnTo>
                  <a:pt x="569087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590" name="object 7"/>
          <p:cNvSpPr txBox="1">
            <a:spLocks noGrp="1"/>
          </p:cNvSpPr>
          <p:nvPr>
            <p:ph type="ctrTitle"/>
          </p:nvPr>
        </p:nvSpPr>
        <p:spPr>
          <a:xfrm>
            <a:off x="1066801" y="397789"/>
            <a:ext cx="7543799" cy="1337310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3213735">
              <a:spcBef>
                <a:spcPts val="130"/>
              </a:spcBef>
            </a:pPr>
            <a:r>
              <a:rPr b="1" dirty="0" i="0" lang="en-US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Portfolio </a:t>
            </a:r>
            <a:r>
              <a:rPr b="1" dirty="0" i="0" lang="en-US">
                <a:solidFill>
                  <a:srgbClr val="0F0F0F"/>
                </a:solidFill>
                <a:effectLst/>
                <a:latin typeface="Roboto" panose="020F0502020204030204" pitchFamily="2" charset="0"/>
              </a:rPr>
              <a:t/>
            </a:r>
            <a:br>
              <a:rPr b="1" dirty="0" i="0" lang="en-US">
                <a:solidFill>
                  <a:srgbClr val="0F0F0F"/>
                </a:solidFill>
                <a:effectLst/>
                <a:latin typeface="Roboto" panose="020F0502020204030204" pitchFamily="2" charset="0"/>
              </a:rPr>
            </a:br>
            <a:endParaRPr dirty="0" spc="15"/>
          </a:p>
        </p:txBody>
      </p:sp>
      <p:sp>
        <p:nvSpPr>
          <p:cNvPr id="1048591" name="object 11"/>
          <p:cNvSpPr txBox="1">
            <a:spLocks noGrp="1"/>
          </p:cNvSpPr>
          <p:nvPr>
            <p:ph type="sldNum" sz="quarter" idx="12"/>
          </p:nvPr>
        </p:nvSpPr>
        <p:spPr>
          <a:xfrm>
            <a:off x="8737600" y="6446527"/>
            <a:ext cx="2844800" cy="184785"/>
          </a:xfrm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pPr marL="38100">
                <a:lnSpc>
                  <a:spcPct val="100000"/>
                </a:lnSpc>
                <a:spcBef>
                  <a:spcPts val="55"/>
                </a:spcBef>
              </a:pPr>
              <a:t>1</a:t>
            </a:fld>
            <a:endParaRPr dirty="0" spc="10"/>
          </a:p>
        </p:txBody>
      </p:sp>
      <p:pic>
        <p:nvPicPr>
          <p:cNvPr id="2097152" name="object 9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/>
        </p:spPr>
      </p:pic>
      <p:sp>
        <p:nvSpPr>
          <p:cNvPr id="1048592" name="TextBox 13"/>
          <p:cNvSpPr txBox="1"/>
          <p:nvPr/>
        </p:nvSpPr>
        <p:spPr>
          <a:xfrm>
            <a:off x="2554542" y="3314150"/>
            <a:ext cx="8610600" cy="2580640"/>
          </a:xfrm>
          <a:prstGeom prst="rect"/>
          <a:noFill/>
        </p:spPr>
        <p:txBody>
          <a:bodyPr anchor="t" bIns="45720" lIns="91440" rIns="91440" rtlCol="0" tIns="45720" wrap="square">
            <a:spAutoFit/>
          </a:bodyPr>
          <a:p>
            <a:r>
              <a:rPr dirty="0" sz="2400" lang="en-US"/>
              <a:t>STUDENT NAME:</a:t>
            </a:r>
            <a:r>
              <a:rPr dirty="0" sz="2400" lang="en-US"/>
              <a:t>B</a:t>
            </a:r>
            <a:r>
              <a:rPr dirty="0" sz="2400" lang="en-US"/>
              <a:t>.</a:t>
            </a:r>
            <a:r>
              <a:rPr dirty="0" sz="2400" lang="en-US"/>
              <a:t>N</a:t>
            </a:r>
            <a:r>
              <a:rPr dirty="0" sz="2400" lang="en-US"/>
              <a:t>A</a:t>
            </a:r>
            <a:r>
              <a:rPr dirty="0" sz="2400" lang="en-US"/>
              <a:t>A</a:t>
            </a:r>
            <a:r>
              <a:rPr dirty="0" sz="2400" lang="en-US"/>
              <a:t>Z</a:t>
            </a:r>
            <a:r>
              <a:rPr dirty="0" sz="2400" lang="en-US"/>
              <a:t>E</a:t>
            </a:r>
            <a:r>
              <a:rPr dirty="0" sz="2400" lang="en-US"/>
              <a:t>Y</a:t>
            </a:r>
            <a:r>
              <a:rPr dirty="0" sz="2400" lang="en-US"/>
              <a:t>A</a:t>
            </a:r>
            <a:endParaRPr dirty="0" sz="2400" lang="en-US"/>
          </a:p>
          <a:p>
            <a:r>
              <a:rPr dirty="0" sz="2400" lang="en-US"/>
              <a:t>REGISTER NO AND NMID: </a:t>
            </a:r>
            <a:r>
              <a:rPr dirty="0" sz="2400" lang="en-US" smtClean="0"/>
              <a:t>2413309</a:t>
            </a:r>
            <a:r>
              <a:rPr dirty="0" sz="2400" lang="en-US" smtClean="0"/>
              <a:t>0</a:t>
            </a:r>
            <a:r>
              <a:rPr dirty="0" sz="2400" lang="en-US" smtClean="0"/>
              <a:t>5</a:t>
            </a:r>
            <a:r>
              <a:rPr dirty="0" sz="2400" lang="en-US" smtClean="0"/>
              <a:t>0</a:t>
            </a:r>
            <a:r>
              <a:rPr dirty="0" sz="2400" lang="en-US" smtClean="0"/>
              <a:t>0</a:t>
            </a:r>
            <a:r>
              <a:rPr dirty="0" sz="2400" lang="en-US" smtClean="0"/>
              <a:t>1</a:t>
            </a:r>
            <a:r>
              <a:rPr dirty="0" sz="2400" lang="en-US" smtClean="0"/>
              <a:t>2</a:t>
            </a:r>
            <a:r>
              <a:rPr dirty="0" sz="2400" lang="en-US" smtClean="0"/>
              <a:t>2</a:t>
            </a:r>
            <a:r>
              <a:rPr dirty="0" sz="2400" lang="en-US" smtClean="0"/>
              <a:t>0</a:t>
            </a:r>
            <a:r>
              <a:rPr dirty="0" sz="2400" lang="en-US" smtClean="0"/>
              <a:t>0</a:t>
            </a:r>
            <a:r>
              <a:rPr dirty="0" sz="2400" lang="en-US" smtClean="0"/>
              <a:t>5</a:t>
            </a:r>
            <a:r>
              <a:rPr dirty="0" sz="2400" lang="en-US" smtClean="0"/>
              <a:t>/autanm30</a:t>
            </a:r>
            <a:r>
              <a:rPr dirty="0" sz="2400" lang="en-US" smtClean="0"/>
              <a:t>9</a:t>
            </a:r>
            <a:r>
              <a:rPr dirty="0" sz="2400" lang="en-US" smtClean="0"/>
              <a:t>3</a:t>
            </a:r>
            <a:r>
              <a:rPr dirty="0" sz="2400" lang="en-US" smtClean="0"/>
              <a:t>0</a:t>
            </a:r>
            <a:r>
              <a:rPr dirty="0" sz="2400" lang="en-US" smtClean="0"/>
              <a:t>9</a:t>
            </a:r>
            <a:r>
              <a:rPr dirty="0" sz="2400" lang="en-US" smtClean="0"/>
              <a:t>2</a:t>
            </a:r>
            <a:r>
              <a:rPr dirty="0" sz="2400" lang="en-US" smtClean="0"/>
              <a:t>4</a:t>
            </a:r>
            <a:r>
              <a:rPr dirty="0" sz="2400" lang="en-US" smtClean="0"/>
              <a:t>u</a:t>
            </a:r>
            <a:r>
              <a:rPr dirty="0" sz="2400" lang="en-US" smtClean="0"/>
              <a:t>b</a:t>
            </a:r>
            <a:r>
              <a:rPr dirty="0" sz="2400" lang="en-US" smtClean="0"/>
              <a:t>c</a:t>
            </a:r>
            <a:r>
              <a:rPr dirty="0" sz="2400" lang="en-US" smtClean="0"/>
              <a:t>a</a:t>
            </a:r>
            <a:r>
              <a:rPr dirty="0" sz="2400" lang="en-US" smtClean="0"/>
              <a:t>0</a:t>
            </a:r>
            <a:r>
              <a:rPr dirty="0" sz="2400" lang="en-US" smtClean="0"/>
              <a:t>0</a:t>
            </a:r>
            <a:r>
              <a:rPr dirty="0" sz="2400" lang="en-US" smtClean="0"/>
              <a:t>5</a:t>
            </a:r>
            <a:endParaRPr dirty="0" sz="2400" lang="en-US">
              <a:cs typeface="Calibri"/>
            </a:endParaRPr>
          </a:p>
          <a:p>
            <a:r>
              <a:rPr dirty="0" sz="2400" lang="en-US"/>
              <a:t>DEPARTMENT: </a:t>
            </a:r>
            <a:r>
              <a:rPr dirty="0" sz="2400" lang="en-US" smtClean="0"/>
              <a:t>COMPUTER </a:t>
            </a:r>
            <a:r>
              <a:rPr dirty="0" sz="2400" lang="en-US" smtClean="0"/>
              <a:t>A</a:t>
            </a:r>
            <a:r>
              <a:rPr dirty="0" sz="2400" lang="en-US" smtClean="0"/>
              <a:t>P</a:t>
            </a:r>
            <a:r>
              <a:rPr dirty="0" sz="2400" lang="en-US" smtClean="0"/>
              <a:t>P</a:t>
            </a:r>
            <a:r>
              <a:rPr dirty="0" sz="2400" lang="en-US" smtClean="0"/>
              <a:t>L</a:t>
            </a:r>
            <a:r>
              <a:rPr dirty="0" sz="2400" lang="en-US" smtClean="0"/>
              <a:t>I</a:t>
            </a:r>
            <a:r>
              <a:rPr dirty="0" sz="2400" lang="en-US" smtClean="0"/>
              <a:t>C</a:t>
            </a:r>
            <a:r>
              <a:rPr dirty="0" sz="2400" lang="en-US" smtClean="0"/>
              <a:t>A</a:t>
            </a:r>
            <a:r>
              <a:rPr dirty="0" sz="2400" lang="en-US" smtClean="0"/>
              <a:t>T</a:t>
            </a:r>
            <a:r>
              <a:rPr dirty="0" sz="2400" lang="en-US" smtClean="0"/>
              <a:t>I</a:t>
            </a:r>
            <a:r>
              <a:rPr dirty="0" sz="2400" lang="en-US" smtClean="0"/>
              <a:t>O</a:t>
            </a:r>
            <a:r>
              <a:rPr dirty="0" sz="2400" lang="en-US" smtClean="0"/>
              <a:t>N</a:t>
            </a:r>
            <a:endParaRPr dirty="0" sz="2400" lang="en-US"/>
          </a:p>
          <a:p>
            <a:r>
              <a:rPr dirty="0" sz="2400" lang="en-US"/>
              <a:t>COLLEGE/ </a:t>
            </a:r>
            <a:r>
              <a:rPr dirty="0" sz="2400" lang="en-US" smtClean="0"/>
              <a:t>UNIVERSITY:JAWAHARLAL NEHRU COLLEGE FOR WOMEN/ANNAMALAI UNIVERSITY</a:t>
            </a:r>
            <a:endParaRPr dirty="0" sz="2400" lang="en-US"/>
          </a:p>
          <a:p>
            <a:r>
              <a:rPr dirty="0" sz="2400" lang="en-US"/>
              <a:t>           </a:t>
            </a:r>
            <a:endParaRPr dirty="0" sz="2400"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object 2"/>
          <p:cNvSpPr/>
          <p:nvPr/>
        </p:nvSpPr>
        <p:spPr>
          <a:xfrm>
            <a:off x="0" y="3429000"/>
            <a:ext cx="12192000" cy="6858000"/>
          </a:xfrm>
          <a:custGeom>
            <a:avLst/>
            <a:ah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bIns="0" lIns="0" rIns="0" rtlCol="0" tIns="0" wrap="square"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3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1048601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ah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02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ah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03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ah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04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ah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05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ah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06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ah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07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ah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08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ah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09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ah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bIns="0" lIns="0" rIns="0" rtlCol="0" tIns="0" wrap="square"/>
            <a:p/>
          </p:txBody>
        </p:sp>
      </p:grpSp>
      <p:sp>
        <p:nvSpPr>
          <p:cNvPr id="1048610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ah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611" name="object 14"/>
          <p:cNvSpPr/>
          <p:nvPr/>
        </p:nvSpPr>
        <p:spPr>
          <a:xfrm>
            <a:off x="9353550" y="536257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12" name="object 15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13" name="object 16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sp>
        <p:nvSpPr>
          <p:cNvPr id="1048614" name="object 17"/>
          <p:cNvSpPr txBox="1">
            <a:spLocks noGrp="1"/>
          </p:cNvSpPr>
          <p:nvPr>
            <p:ph type="title"/>
          </p:nvPr>
        </p:nvSpPr>
        <p:spPr>
          <a:xfrm>
            <a:off x="739775" y="849312"/>
            <a:ext cx="3909695" cy="638810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250" spc="5"/>
              <a:t>PROJECT</a:t>
            </a:r>
            <a:r>
              <a:rPr dirty="0" sz="4250" spc="-85"/>
              <a:t> </a:t>
            </a:r>
            <a:r>
              <a:rPr dirty="0" sz="4250" spc="25"/>
              <a:t>TITLE</a:t>
            </a:r>
            <a:endParaRPr sz="4250"/>
          </a:p>
        </p:txBody>
      </p:sp>
      <p:sp>
        <p:nvSpPr>
          <p:cNvPr id="1048615" name="object 22"/>
          <p:cNvSpPr txBox="1">
            <a:spLocks noGrp="1"/>
          </p:cNvSpPr>
          <p:nvPr>
            <p:ph type="sldNum" sz="quarter" idx="12"/>
          </p:nvPr>
        </p:nvSpPr>
        <p:spPr>
          <a:xfrm>
            <a:off x="8737600" y="6446527"/>
            <a:ext cx="2844800" cy="184785"/>
          </a:xfrm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pPr marL="38100">
                <a:lnSpc>
                  <a:spcPct val="100000"/>
                </a:lnSpc>
                <a:spcBef>
                  <a:spcPts val="55"/>
                </a:spcBef>
              </a:pPr>
              <a:t>2</a:t>
            </a:fld>
            <a:endParaRPr dirty="0" spc="10"/>
          </a:p>
        </p:txBody>
      </p:sp>
      <p:grpSp>
        <p:nvGrpSpPr>
          <p:cNvPr id="34" name="object 18"/>
          <p:cNvGrpSpPr/>
          <p:nvPr/>
        </p:nvGrpSpPr>
        <p:grpSpPr>
          <a:xfrm>
            <a:off x="466725" y="6410325"/>
            <a:ext cx="3705225" cy="295275"/>
            <a:chOff x="466725" y="6410325"/>
            <a:chExt cx="3705225" cy="295275"/>
          </a:xfrm>
        </p:grpSpPr>
        <p:pic>
          <p:nvPicPr>
            <p:cNvPr id="2097153" name="object 19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676275" y="6467475"/>
              <a:ext cx="2143125" cy="200025"/>
            </a:xfrm>
            <a:prstGeom prst="rect"/>
          </p:spPr>
        </p:pic>
        <p:pic>
          <p:nvPicPr>
            <p:cNvPr id="2097154" name="object 20"/>
            <p:cNvPicPr>
              <a:picLocks/>
            </p:cNvPicPr>
            <p:nvPr/>
          </p:nvPicPr>
          <p:blipFill>
            <a:blip xmlns:r="http://schemas.openxmlformats.org/officeDocument/2006/relationships" r:embed="rId2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/>
          </p:spPr>
        </p:pic>
      </p:grpSp>
      <p:sp>
        <p:nvSpPr>
          <p:cNvPr id="1048616" name="Rectangle 1"/>
          <p:cNvSpPr>
            <a:spLocks noChangeArrowheads="1"/>
          </p:cNvSpPr>
          <p:nvPr/>
        </p:nvSpPr>
        <p:spPr bwMode="auto">
          <a:xfrm>
            <a:off x="229438" y="1429702"/>
            <a:ext cx="9144000" cy="8008620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ctr" anchorCtr="0" bIns="0" compatLnSpc="1" lIns="0" numCol="1" rIns="0" tIns="45720" vert="horz" wrap="square">
            <a:prstTxWarp prst="textNoShape"/>
            <a:spAutoFit/>
          </a:bodyPr>
          <a:p>
            <a:pPr algn="l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sz="28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A student portfolio is a collection of academic and professional work that showcases a student's skills, achievements, and progress over time. Here are some key components and benefits of a student portfolio: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sz="28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Components of a Student Portfolio</a:t>
            </a:r>
            <a:endParaRPr baseline="0" b="0" cap="none" dirty="0" sz="2800" i="0" kumimoji="0" lang="en-US" normalizeH="0" strike="noStrike" u="none" smtClean="0">
              <a:ln>
                <a:noFill/>
              </a:ln>
              <a:solidFill>
                <a:schemeClr val="tx1"/>
              </a:solidFill>
              <a:effectLst/>
              <a:latin typeface="var(--body-font-family)"/>
              <a:cs typeface="Arial" pitchFamily="34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baseline="0" b="1" cap="none" dirty="0" sz="28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var(--body-font-family)"/>
                <a:cs typeface="Arial" pitchFamily="34" charset="0"/>
              </a:rPr>
              <a:t>Academic Work</a:t>
            </a:r>
            <a:r>
              <a:rPr baseline="0" b="0" cap="none" dirty="0" sz="28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var(--body-font-family)"/>
                <a:cs typeface="Arial" pitchFamily="34" charset="0"/>
              </a:rPr>
              <a:t>: Essays, reports, projects, and other assignments that demonstrate academic skills and knowledge.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baseline="0" b="1" cap="none" dirty="0" sz="28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var(--body-font-family)"/>
                <a:cs typeface="Arial" pitchFamily="34" charset="0"/>
              </a:rPr>
              <a:t>Projects and Presentations</a:t>
            </a:r>
            <a:r>
              <a:rPr baseline="0" b="0" cap="none" dirty="0" sz="28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var(--body-font-family)"/>
                <a:cs typeface="Arial" pitchFamily="34" charset="0"/>
              </a:rPr>
              <a:t>: Group or individual projects, presentations, and posters that showcase skills in research, design, and communication.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baseline="0" b="1" cap="none" dirty="0" sz="28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var(--body-font-family)"/>
                <a:cs typeface="Arial" pitchFamily="34" charset="0"/>
              </a:rPr>
              <a:t>Reflective Writing</a:t>
            </a:r>
            <a:r>
              <a:rPr baseline="0" b="0" cap="none" dirty="0" sz="28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var(--body-font-family)"/>
                <a:cs typeface="Arial" pitchFamily="34" charset="0"/>
              </a:rPr>
              <a:t>: Reflections on learning experiences, challenges, and achievements that demonstrate self-awareness and growth.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</a:pPr>
            <a:r>
              <a:rPr baseline="0" b="1" cap="none" dirty="0" sz="28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var(--body-font-family)"/>
                <a:cs typeface="Arial" pitchFamily="34" charset="0"/>
              </a:rPr>
              <a:t>Skills and Certifications</a:t>
            </a:r>
            <a:r>
              <a:rPr baseline="0" b="0" cap="none" dirty="0" sz="28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var(--body-font-family)"/>
                <a:cs typeface="Arial" pitchFamily="34" charset="0"/>
              </a:rPr>
              <a:t>: Evidence of skills acquired through coursework, training programs, or certifications.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</a:pPr>
            <a:r>
              <a:rPr baseline="0" b="1" cap="none" dirty="0" sz="28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var(--body-font-family)"/>
                <a:cs typeface="Arial" pitchFamily="34" charset="0"/>
              </a:rPr>
              <a:t>Extracurricular Activities</a:t>
            </a:r>
            <a:r>
              <a:rPr baseline="0" b="0" cap="none" dirty="0" sz="28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var(--body-font-family)"/>
                <a:cs typeface="Arial" pitchFamily="34" charset="0"/>
              </a:rPr>
              <a:t>: Leadership roles, volunteer work, or other activities that demonstrate skills and character</a:t>
            </a:r>
            <a:r>
              <a:rPr baseline="0" b="0" cap="none" dirty="0" sz="28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var(--body-font-family)"/>
                <a:cs typeface="Arial" pitchFamily="34" charset="0"/>
              </a:rPr>
              <a:t>.</a:t>
            </a:r>
            <a:endParaRPr baseline="0" b="0" cap="none" dirty="0" sz="2800" i="0" kumimoji="0" lang="en-US" normalizeH="0" strike="noStrike" u="none" smtClean="0">
              <a:ln>
                <a:noFill/>
              </a:ln>
              <a:solidFill>
                <a:schemeClr val="tx1"/>
              </a:solidFill>
              <a:effectLst/>
              <a:latin typeface="var(--body-font-family)"/>
              <a:cs typeface="Arial" pitchFamily="34" charset="0"/>
            </a:endParaRPr>
          </a:p>
        </p:txBody>
      </p:sp>
    </p:spTree>
  </p:cSld>
  <p:clrMapOvr>
    <a:masterClrMapping/>
  </p:clrMapOvr>
  <p:timing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object 2"/>
          <p:cNvSpPr/>
          <p:nvPr/>
        </p:nvSpPr>
        <p:spPr>
          <a:xfrm>
            <a:off x="-76200" y="28579"/>
            <a:ext cx="12481713" cy="6858000"/>
          </a:xfrm>
          <a:custGeom>
            <a:avLst/>
            <a:ah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bIns="0" lIns="0" rIns="0" rtlCol="0" tIns="0" wrap="square"/>
          <a:p>
            <a:endParaRPr dirty="0"/>
          </a:p>
        </p:txBody>
      </p:sp>
      <p:grpSp>
        <p:nvGrpSpPr>
          <p:cNvPr id="38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1048621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ah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22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ah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23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ah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24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ah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25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ah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26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ah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27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ah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28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ah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29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ah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bIns="0" lIns="0" rIns="0" rtlCol="0" tIns="0" wrap="square"/>
            <a:p/>
          </p:txBody>
        </p:sp>
      </p:grpSp>
      <p:sp>
        <p:nvSpPr>
          <p:cNvPr id="1048630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ah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631" name="object 14"/>
          <p:cNvSpPr txBox="1"/>
          <p:nvPr/>
        </p:nvSpPr>
        <p:spPr>
          <a:xfrm>
            <a:off x="752475" y="6486037"/>
            <a:ext cx="1773555" cy="166370"/>
          </a:xfrm>
          <a:prstGeom prst="rect"/>
        </p:spPr>
        <p:txBody>
          <a:bodyPr bIns="0" lIns="0" rIns="0" rtlCol="0" tIns="0" vert="horz" wrap="square">
            <a:spAutoFit/>
          </a:bodyPr>
          <a:p>
            <a:pPr>
              <a:lnSpc>
                <a:spcPts val="1275"/>
              </a:lnSpc>
            </a:pPr>
            <a:r>
              <a:rPr dirty="0" sz="1100" spc="2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dirty="0" sz="1100" spc="1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dirty="0" sz="110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dirty="0" sz="1100" spc="13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b="1" dirty="0" sz="1100" spc="5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b="1" dirty="0" sz="1100" spc="15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b="1" dirty="0" sz="1100" spc="1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b="1" dirty="0" sz="1100" spc="-14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b="1" dirty="0" sz="110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b="1" dirty="0" sz="1100" spc="35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b="1" dirty="0" sz="1100" spc="9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b="1" dirty="0" sz="1100" spc="-35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b="1" dirty="0" sz="1100" spc="35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b="1" dirty="0" sz="1100" spc="15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048632" name="object 15"/>
          <p:cNvSpPr/>
          <p:nvPr/>
        </p:nvSpPr>
        <p:spPr>
          <a:xfrm>
            <a:off x="7362825" y="447675"/>
            <a:ext cx="361950" cy="361950"/>
          </a:xfrm>
          <a:custGeom>
            <a:avLst/>
            <a:ahLst/>
            <a:rect l="l" t="t" r="r" b="b"/>
            <a:pathLst>
              <a:path w="361950" h="361950">
                <a:moveTo>
                  <a:pt x="180975" y="0"/>
                </a:moveTo>
                <a:lnTo>
                  <a:pt x="132864" y="6464"/>
                </a:lnTo>
                <a:lnTo>
                  <a:pt x="89633" y="24708"/>
                </a:lnTo>
                <a:lnTo>
                  <a:pt x="53006" y="53006"/>
                </a:lnTo>
                <a:lnTo>
                  <a:pt x="24708" y="89633"/>
                </a:lnTo>
                <a:lnTo>
                  <a:pt x="6464" y="132864"/>
                </a:lnTo>
                <a:lnTo>
                  <a:pt x="0" y="180975"/>
                </a:lnTo>
                <a:lnTo>
                  <a:pt x="6464" y="229085"/>
                </a:lnTo>
                <a:lnTo>
                  <a:pt x="24708" y="272316"/>
                </a:lnTo>
                <a:lnTo>
                  <a:pt x="53006" y="308943"/>
                </a:lnTo>
                <a:lnTo>
                  <a:pt x="89633" y="337241"/>
                </a:lnTo>
                <a:lnTo>
                  <a:pt x="132864" y="355485"/>
                </a:lnTo>
                <a:lnTo>
                  <a:pt x="180975" y="361950"/>
                </a:lnTo>
                <a:lnTo>
                  <a:pt x="229085" y="355485"/>
                </a:lnTo>
                <a:lnTo>
                  <a:pt x="272316" y="337241"/>
                </a:lnTo>
                <a:lnTo>
                  <a:pt x="308943" y="308943"/>
                </a:lnTo>
                <a:lnTo>
                  <a:pt x="337241" y="272316"/>
                </a:lnTo>
                <a:lnTo>
                  <a:pt x="355485" y="229085"/>
                </a:lnTo>
                <a:lnTo>
                  <a:pt x="361950" y="180975"/>
                </a:lnTo>
                <a:lnTo>
                  <a:pt x="355485" y="132864"/>
                </a:lnTo>
                <a:lnTo>
                  <a:pt x="337241" y="89633"/>
                </a:lnTo>
                <a:lnTo>
                  <a:pt x="308943" y="53006"/>
                </a:lnTo>
                <a:lnTo>
                  <a:pt x="272316" y="24708"/>
                </a:lnTo>
                <a:lnTo>
                  <a:pt x="229085" y="6464"/>
                </a:lnTo>
                <a:lnTo>
                  <a:pt x="180975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bIns="0" lIns="0" rIns="0" rtlCol="0" tIns="0" wrap="square"/>
          <a:p/>
        </p:txBody>
      </p:sp>
      <p:sp>
        <p:nvSpPr>
          <p:cNvPr id="1048633" name="object 16"/>
          <p:cNvSpPr/>
          <p:nvPr/>
        </p:nvSpPr>
        <p:spPr>
          <a:xfrm>
            <a:off x="11010900" y="5610225"/>
            <a:ext cx="647700" cy="647700"/>
          </a:xfrm>
          <a:custGeom>
            <a:avLst/>
            <a:ahLst/>
            <a:rect l="l" t="t" r="r" b="b"/>
            <a:pathLst>
              <a:path w="647700" h="647700">
                <a:moveTo>
                  <a:pt x="323850" y="0"/>
                </a:moveTo>
                <a:lnTo>
                  <a:pt x="276003" y="3511"/>
                </a:lnTo>
                <a:lnTo>
                  <a:pt x="230332" y="13711"/>
                </a:lnTo>
                <a:lnTo>
                  <a:pt x="187340" y="30099"/>
                </a:lnTo>
                <a:lnTo>
                  <a:pt x="147528" y="52175"/>
                </a:lnTo>
                <a:lnTo>
                  <a:pt x="111397" y="79436"/>
                </a:lnTo>
                <a:lnTo>
                  <a:pt x="79448" y="111381"/>
                </a:lnTo>
                <a:lnTo>
                  <a:pt x="52184" y="147511"/>
                </a:lnTo>
                <a:lnTo>
                  <a:pt x="30106" y="187324"/>
                </a:lnTo>
                <a:lnTo>
                  <a:pt x="13714" y="230319"/>
                </a:lnTo>
                <a:lnTo>
                  <a:pt x="3512" y="275994"/>
                </a:lnTo>
                <a:lnTo>
                  <a:pt x="0" y="323850"/>
                </a:lnTo>
                <a:lnTo>
                  <a:pt x="3512" y="371705"/>
                </a:lnTo>
                <a:lnTo>
                  <a:pt x="13714" y="417380"/>
                </a:lnTo>
                <a:lnTo>
                  <a:pt x="30106" y="460375"/>
                </a:lnTo>
                <a:lnTo>
                  <a:pt x="52184" y="500188"/>
                </a:lnTo>
                <a:lnTo>
                  <a:pt x="79448" y="536318"/>
                </a:lnTo>
                <a:lnTo>
                  <a:pt x="111397" y="568263"/>
                </a:lnTo>
                <a:lnTo>
                  <a:pt x="147528" y="595524"/>
                </a:lnTo>
                <a:lnTo>
                  <a:pt x="187340" y="617600"/>
                </a:lnTo>
                <a:lnTo>
                  <a:pt x="230332" y="633988"/>
                </a:lnTo>
                <a:lnTo>
                  <a:pt x="276003" y="644188"/>
                </a:lnTo>
                <a:lnTo>
                  <a:pt x="323850" y="647700"/>
                </a:lnTo>
                <a:lnTo>
                  <a:pt x="371696" y="644188"/>
                </a:lnTo>
                <a:lnTo>
                  <a:pt x="417367" y="633988"/>
                </a:lnTo>
                <a:lnTo>
                  <a:pt x="460359" y="617600"/>
                </a:lnTo>
                <a:lnTo>
                  <a:pt x="500171" y="595524"/>
                </a:lnTo>
                <a:lnTo>
                  <a:pt x="536302" y="568263"/>
                </a:lnTo>
                <a:lnTo>
                  <a:pt x="568251" y="536318"/>
                </a:lnTo>
                <a:lnTo>
                  <a:pt x="595515" y="500188"/>
                </a:lnTo>
                <a:lnTo>
                  <a:pt x="617593" y="460375"/>
                </a:lnTo>
                <a:lnTo>
                  <a:pt x="633985" y="417380"/>
                </a:lnTo>
                <a:lnTo>
                  <a:pt x="644187" y="371705"/>
                </a:lnTo>
                <a:lnTo>
                  <a:pt x="647700" y="323850"/>
                </a:lnTo>
                <a:lnTo>
                  <a:pt x="644187" y="275994"/>
                </a:lnTo>
                <a:lnTo>
                  <a:pt x="633985" y="230319"/>
                </a:lnTo>
                <a:lnTo>
                  <a:pt x="617593" y="187324"/>
                </a:lnTo>
                <a:lnTo>
                  <a:pt x="595515" y="147511"/>
                </a:lnTo>
                <a:lnTo>
                  <a:pt x="568251" y="111381"/>
                </a:lnTo>
                <a:lnTo>
                  <a:pt x="536302" y="79436"/>
                </a:lnTo>
                <a:lnTo>
                  <a:pt x="500171" y="52175"/>
                </a:lnTo>
                <a:lnTo>
                  <a:pt x="460359" y="30099"/>
                </a:lnTo>
                <a:lnTo>
                  <a:pt x="417367" y="13711"/>
                </a:lnTo>
                <a:lnTo>
                  <a:pt x="371696" y="3511"/>
                </a:lnTo>
                <a:lnTo>
                  <a:pt x="323850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pic>
        <p:nvPicPr>
          <p:cNvPr id="2097155" name="object 17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0687050" y="6134100"/>
            <a:ext cx="247650" cy="247650"/>
          </a:xfrm>
          <a:prstGeom prst="rect"/>
        </p:spPr>
      </p:pic>
      <p:grpSp>
        <p:nvGrpSpPr>
          <p:cNvPr id="39" name="object 18"/>
          <p:cNvGrpSpPr/>
          <p:nvPr/>
        </p:nvGrpSpPr>
        <p:grpSpPr>
          <a:xfrm>
            <a:off x="47625" y="3819523"/>
            <a:ext cx="4124325" cy="3009900"/>
            <a:chOff x="47625" y="3819523"/>
            <a:chExt cx="4124325" cy="3009900"/>
          </a:xfrm>
        </p:grpSpPr>
        <p:pic>
          <p:nvPicPr>
            <p:cNvPr id="2097156" name="object 19"/>
            <p:cNvPicPr>
              <a:picLocks/>
            </p:cNvPicPr>
            <p:nvPr/>
          </p:nvPicPr>
          <p:blipFill>
            <a:blip xmlns:r="http://schemas.openxmlformats.org/officeDocument/2006/relationships" r:embed="rId2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/>
          </p:spPr>
        </p:pic>
        <p:pic>
          <p:nvPicPr>
            <p:cNvPr id="2097157" name="object 20"/>
            <p:cNvPicPr>
              <a:picLocks/>
            </p:cNvPicPr>
            <p:nvPr/>
          </p:nvPicPr>
          <p:blipFill>
            <a:blip xmlns:r="http://schemas.openxmlformats.org/officeDocument/2006/relationships" r:embed="rId3" cstate="print"/>
            <a:stretch>
              <a:fillRect/>
            </a:stretch>
          </p:blipFill>
          <p:spPr>
            <a:xfrm>
              <a:off x="47625" y="3819523"/>
              <a:ext cx="1733550" cy="3009898"/>
            </a:xfrm>
            <a:prstGeom prst="rect"/>
          </p:spPr>
        </p:pic>
      </p:grpSp>
      <p:sp>
        <p:nvSpPr>
          <p:cNvPr id="1048634" name="object 21"/>
          <p:cNvSpPr txBox="1">
            <a:spLocks noGrp="1"/>
          </p:cNvSpPr>
          <p:nvPr>
            <p:ph type="title"/>
          </p:nvPr>
        </p:nvSpPr>
        <p:spPr>
          <a:xfrm>
            <a:off x="739775" y="487615"/>
            <a:ext cx="2357120" cy="673736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25"/>
              <a:t>A</a:t>
            </a:r>
            <a:r>
              <a:rPr dirty="0" spc="-5"/>
              <a:t>G</a:t>
            </a:r>
            <a:r>
              <a:rPr dirty="0" spc="-35"/>
              <a:t>E</a:t>
            </a:r>
            <a:r>
              <a:rPr dirty="0" spc="15"/>
              <a:t>N</a:t>
            </a:r>
            <a:r>
              <a:rPr dirty="0"/>
              <a:t>DA</a:t>
            </a:r>
          </a:p>
        </p:txBody>
      </p:sp>
      <p:sp>
        <p:nvSpPr>
          <p:cNvPr id="1048635" name="object 22"/>
          <p:cNvSpPr txBox="1">
            <a:spLocks noGrp="1"/>
          </p:cNvSpPr>
          <p:nvPr>
            <p:ph type="sldNum" sz="quarter" idx="12"/>
          </p:nvPr>
        </p:nvSpPr>
        <p:spPr>
          <a:xfrm>
            <a:off x="8737600" y="6446527"/>
            <a:ext cx="2844800" cy="184785"/>
          </a:xfrm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pPr marL="38100">
                <a:lnSpc>
                  <a:spcPct val="100000"/>
                </a:lnSpc>
                <a:spcBef>
                  <a:spcPts val="55"/>
                </a:spcBef>
              </a:pPr>
              <a:t>3</a:t>
            </a:fld>
            <a:endParaRPr dirty="0" spc="10"/>
          </a:p>
        </p:txBody>
      </p:sp>
      <p:sp>
        <p:nvSpPr>
          <p:cNvPr id="1048636" name="TextBox 22"/>
          <p:cNvSpPr txBox="1"/>
          <p:nvPr/>
        </p:nvSpPr>
        <p:spPr>
          <a:xfrm>
            <a:off x="2509807" y="1041533"/>
            <a:ext cx="5029200" cy="4701541"/>
          </a:xfrm>
          <a:prstGeom prst="rect"/>
          <a:noFill/>
        </p:spPr>
        <p:txBody>
          <a:bodyPr rtlCol="0" wrap="square">
            <a:spAutoFit/>
          </a:bodyPr>
          <a:p>
            <a:pPr algn="l"/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</a:p>
          <a:p>
            <a:pPr algn="l">
              <a:buFont typeface="+mj-lt"/>
              <a:buAutoNum type="arabicPeriod"/>
            </a:pPr>
            <a:r>
              <a:rPr dirty="0" sz="2800" lang="en-US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Portfolio design and Layout</a:t>
            </a:r>
          </a:p>
          <a:p>
            <a:pPr algn="l">
              <a:buFont typeface="+mj-lt"/>
              <a:buAutoNum type="arabicPeriod"/>
            </a:pPr>
            <a:r>
              <a:rPr dirty="0" sz="2800" lang="en-US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Functionality</a:t>
            </a:r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and </a:t>
            </a:r>
            <a:r>
              <a:rPr dirty="0" sz="2800" lang="en-US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l">
              <a:buFont typeface="+mj-lt"/>
              <a:buAutoNum type="arabicPeriod"/>
            </a:pPr>
            <a:r>
              <a:rPr dirty="0" sz="2800" lang="en-US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dirty="0" sz="2800" lang="en-US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 sz="28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object 2"/>
          <p:cNvGrpSpPr/>
          <p:nvPr/>
        </p:nvGrpSpPr>
        <p:grpSpPr>
          <a:xfrm>
            <a:off x="7991475" y="2933700"/>
            <a:ext cx="2762250" cy="3257550"/>
            <a:chOff x="7991475" y="2933700"/>
            <a:chExt cx="2762250" cy="3257550"/>
          </a:xfrm>
        </p:grpSpPr>
        <p:sp>
          <p:nvSpPr>
            <p:cNvPr id="1048637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ah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bIns="0" lIns="0" rIns="0" rtlCol="0" tIns="0" wrap="square"/>
            <a:p/>
          </p:txBody>
        </p:sp>
        <p:sp>
          <p:nvSpPr>
            <p:cNvPr id="1048638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ah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bIns="0" lIns="0" rIns="0" rtlCol="0" tIns="0" wrap="square"/>
            <a:p/>
          </p:txBody>
        </p:sp>
        <p:pic>
          <p:nvPicPr>
            <p:cNvPr id="2097158" name="object 5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7991475" y="2933700"/>
              <a:ext cx="2762250" cy="3257550"/>
            </a:xfrm>
            <a:prstGeom prst="rect"/>
          </p:spPr>
        </p:pic>
      </p:grpSp>
      <p:sp>
        <p:nvSpPr>
          <p:cNvPr id="1048639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40" name="object 7"/>
          <p:cNvSpPr txBox="1">
            <a:spLocks noGrp="1"/>
          </p:cNvSpPr>
          <p:nvPr>
            <p:ph type="title"/>
          </p:nvPr>
        </p:nvSpPr>
        <p:spPr>
          <a:xfrm>
            <a:off x="834072" y="594740"/>
            <a:ext cx="5636895" cy="638810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  <a:tabLst>
                <a:tab algn="l" pos="2727960"/>
              </a:tabLst>
            </a:pPr>
            <a:r>
              <a:rPr sz="4250" spc="-20" smtClean="0"/>
              <a:t>P</a:t>
            </a:r>
            <a:r>
              <a:rPr sz="4250" spc="15" smtClean="0"/>
              <a:t>ROB</a:t>
            </a:r>
            <a:r>
              <a:rPr sz="4250" spc="55" smtClean="0"/>
              <a:t>L</a:t>
            </a:r>
            <a:r>
              <a:rPr sz="4250" spc="-20" smtClean="0"/>
              <a:t>E</a:t>
            </a:r>
            <a:r>
              <a:rPr sz="4250" spc="20" smtClean="0"/>
              <a:t>M</a:t>
            </a:r>
            <a:r>
              <a:rPr dirty="0" sz="4250" lang="en-US" spc="20"/>
              <a:t> </a:t>
            </a:r>
            <a:r>
              <a:rPr sz="4250" spc="10" smtClean="0"/>
              <a:t>S</a:t>
            </a:r>
            <a:r>
              <a:rPr sz="4250" spc="-370" smtClean="0"/>
              <a:t>T</a:t>
            </a:r>
            <a:r>
              <a:rPr sz="4250" spc="-375" smtClean="0"/>
              <a:t>A</a:t>
            </a:r>
            <a:r>
              <a:rPr sz="4250" spc="15" smtClean="0"/>
              <a:t>T</a:t>
            </a:r>
            <a:r>
              <a:rPr sz="4250" spc="-10" smtClean="0"/>
              <a:t>E</a:t>
            </a:r>
            <a:r>
              <a:rPr sz="4250" spc="-20" smtClean="0"/>
              <a:t>ME</a:t>
            </a:r>
            <a:r>
              <a:rPr sz="4250" spc="10" smtClean="0"/>
              <a:t>NT</a:t>
            </a:r>
            <a:endParaRPr sz="4250"/>
          </a:p>
        </p:txBody>
      </p:sp>
      <p:sp>
        <p:nvSpPr>
          <p:cNvPr id="1048641" name="object 10"/>
          <p:cNvSpPr txBox="1">
            <a:spLocks noGrp="1"/>
          </p:cNvSpPr>
          <p:nvPr>
            <p:ph type="sldNum" sz="quarter" idx="12"/>
          </p:nvPr>
        </p:nvSpPr>
        <p:spPr>
          <a:xfrm>
            <a:off x="8737600" y="6446527"/>
            <a:ext cx="2844800" cy="184785"/>
          </a:xfrm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pPr marL="38100">
                <a:lnSpc>
                  <a:spcPct val="100000"/>
                </a:lnSpc>
                <a:spcBef>
                  <a:spcPts val="55"/>
                </a:spcBef>
              </a:pPr>
              <a:t>4</a:t>
            </a:fld>
            <a:endParaRPr dirty="0" spc="10"/>
          </a:p>
        </p:txBody>
      </p:sp>
      <p:pic>
        <p:nvPicPr>
          <p:cNvPr id="2097159" name="object 8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/>
        </p:spPr>
      </p:pic>
      <p:sp>
        <p:nvSpPr>
          <p:cNvPr id="1048642" name="Rectangle 1"/>
          <p:cNvSpPr>
            <a:spLocks noChangeArrowheads="1"/>
          </p:cNvSpPr>
          <p:nvPr/>
        </p:nvSpPr>
        <p:spPr bwMode="auto">
          <a:xfrm>
            <a:off x="304799" y="1375067"/>
            <a:ext cx="10515601" cy="5379721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ctr" anchorCtr="0" bIns="0" compatLnSpc="1" lIns="0" numCol="1" rIns="0" tIns="45720" vert="horz" wrap="square">
            <a:prstTxWarp prst="textNoShape"/>
            <a:spAutoFit/>
          </a:bodyPr>
          <a:p>
            <a:pPr algn="l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Problem Statement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"The current website of our college is outdated, difficult to navigate, and not mobile-friendly, resulting in a poor user experience for students, faculty, and prospective students."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Portfolio Contents</a:t>
            </a:r>
            <a:endParaRPr baseline="0" b="0" cap="none" dirty="0" sz="2400" i="0" kumimoji="0" lang="en-US" normalizeH="0" strike="noStrike" u="none" smtClean="0">
              <a:ln>
                <a:noFill/>
              </a:ln>
              <a:solidFill>
                <a:schemeClr val="tx1"/>
              </a:solidFill>
              <a:effectLst/>
              <a:latin typeface="var(--body-font-family)"/>
              <a:cs typeface="Arial" pitchFamily="34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baseline="0" b="1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var(--body-font-family)"/>
                <a:cs typeface="Arial" pitchFamily="34" charset="0"/>
              </a:rPr>
              <a:t>Problem Analysis</a:t>
            </a:r>
            <a:endParaRPr baseline="0" b="0" cap="none" dirty="0" sz="2400" i="0" kumimoji="0" lang="en-US" normalizeH="0" strike="noStrike" u="none" smtClean="0">
              <a:ln>
                <a:noFill/>
              </a:ln>
              <a:solidFill>
                <a:schemeClr val="tx1"/>
              </a:solidFill>
              <a:effectLst/>
              <a:latin typeface="var(--body-font-family)"/>
              <a:cs typeface="Arial" pitchFamily="34" charset="0"/>
            </a:endParaRPr>
          </a:p>
          <a:p>
            <a:pPr algn="l" defTabSz="914400" eaLnBrk="0" fontAlgn="base" hangingPunct="0" indent="0" latinLnBrk="0" lvl="1" marL="4572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var(--body-font-family)"/>
                <a:cs typeface="Arial" pitchFamily="34" charset="0"/>
              </a:rPr>
              <a:t>Research on website usability and accessibility</a:t>
            </a:r>
          </a:p>
          <a:p>
            <a:pPr algn="l" defTabSz="914400" eaLnBrk="0" fontAlgn="base" hangingPunct="0" indent="0" latinLnBrk="0" lvl="1" marL="4572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var(--body-font-family)"/>
                <a:cs typeface="Arial" pitchFamily="34" charset="0"/>
              </a:rPr>
              <a:t>Analysis of existing website's strengths and weaknesses</a:t>
            </a:r>
          </a:p>
          <a:p>
            <a:pPr algn="l" defTabSz="914400" eaLnBrk="0" fontAlgn="base" hangingPunct="0" indent="0" latinLnBrk="0" lvl="1" marL="4572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var(--body-font-family)"/>
                <a:cs typeface="Arial" pitchFamily="34" charset="0"/>
              </a:rPr>
              <a:t>Identification of target audience and their needs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baseline="0" b="1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var(--body-font-family)"/>
                <a:cs typeface="Arial" pitchFamily="34" charset="0"/>
              </a:rPr>
              <a:t>Design Concepts</a:t>
            </a:r>
            <a:endParaRPr baseline="0" b="0" cap="none" dirty="0" sz="2400" i="0" kumimoji="0" lang="en-US" normalizeH="0" strike="noStrike" u="none" smtClean="0">
              <a:ln>
                <a:noFill/>
              </a:ln>
              <a:solidFill>
                <a:schemeClr val="tx1"/>
              </a:solidFill>
              <a:effectLst/>
              <a:latin typeface="var(--body-font-family)"/>
              <a:cs typeface="Arial" pitchFamily="34" charset="0"/>
            </a:endParaRPr>
          </a:p>
          <a:p>
            <a:pPr algn="l" defTabSz="914400" eaLnBrk="0" fontAlgn="base" hangingPunct="0" indent="0" latinLnBrk="0" lvl="1" marL="4572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var(--body-font-family)"/>
                <a:cs typeface="Arial" pitchFamily="34" charset="0"/>
              </a:rPr>
              <a:t>Wireframes and mockups of proposed website design</a:t>
            </a:r>
          </a:p>
          <a:p>
            <a:pPr algn="l" defTabSz="914400" eaLnBrk="0" fontAlgn="base" hangingPunct="0" indent="0" latinLnBrk="0" lvl="1" marL="4572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var(--body-font-family)"/>
                <a:cs typeface="Arial" pitchFamily="34" charset="0"/>
              </a:rPr>
              <a:t>Description of design decisions and rationale</a:t>
            </a:r>
          </a:p>
          <a:p>
            <a:pPr algn="l" defTabSz="914400" eaLnBrk="0" fontAlgn="base" hangingPunct="0" indent="0" latinLnBrk="0" lvl="1" marL="4572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var(--body-font-family)"/>
                <a:cs typeface="Arial" pitchFamily="34" charset="0"/>
              </a:rPr>
              <a:t>Feedback from peers and instructors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baseline="0" b="1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var(--body-font-family)"/>
                <a:cs typeface="Arial" pitchFamily="34" charset="0"/>
              </a:rPr>
              <a:t>Prototype Development</a:t>
            </a:r>
            <a:endParaRPr baseline="0" b="0" cap="none" dirty="0" sz="2400" i="0" kumimoji="0" lang="en-US" normalizeH="0" strike="noStrike" u="none" smtClean="0">
              <a:ln>
                <a:noFill/>
              </a:ln>
              <a:solidFill>
                <a:schemeClr val="tx1"/>
              </a:solidFill>
              <a:effectLst/>
              <a:latin typeface="var(--body-font-family)"/>
              <a:cs typeface="Arial" pitchFamily="34" charset="0"/>
            </a:endParaRPr>
          </a:p>
          <a:p>
            <a:pPr algn="l" defTabSz="914400" eaLnBrk="0" fontAlgn="base" hangingPunct="0" indent="0" latinLnBrk="0" lvl="1" marL="4572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var(--body-font-family)"/>
                <a:cs typeface="Arial" pitchFamily="34" charset="0"/>
              </a:rPr>
              <a:t>Functional prototype of proposed website </a:t>
            </a: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var(--body-font-family)"/>
                <a:cs typeface="Arial" pitchFamily="34" charset="0"/>
              </a:rPr>
              <a:t>design</a:t>
            </a:r>
            <a:endParaRPr baseline="0" b="0" cap="none" dirty="0" sz="2400" i="0" kumimoji="0" lang="en-US" normalizeH="0" strike="noStrike" u="none" smtClean="0">
              <a:ln>
                <a:noFill/>
              </a:ln>
              <a:solidFill>
                <a:schemeClr val="tx1"/>
              </a:solidFill>
              <a:effectLst/>
              <a:latin typeface="var(--body-font-family)"/>
              <a:cs typeface="Arial" pitchFamily="34" charset="0"/>
            </a:endParaRPr>
          </a:p>
        </p:txBody>
      </p:sp>
    </p:spTree>
  </p:cSld>
  <p:clrMapOvr>
    <a:masterClrMapping/>
  </p:clrMapOvr>
  <p:timing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object 2"/>
          <p:cNvGrpSpPr/>
          <p:nvPr/>
        </p:nvGrpSpPr>
        <p:grpSpPr>
          <a:xfrm>
            <a:off x="8658225" y="2647950"/>
            <a:ext cx="3533775" cy="3810000"/>
            <a:chOff x="8658225" y="2647950"/>
            <a:chExt cx="3533775" cy="3810000"/>
          </a:xfrm>
        </p:grpSpPr>
        <p:sp>
          <p:nvSpPr>
            <p:cNvPr id="104864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ah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bIns="0" lIns="0" rIns="0" rtlCol="0" tIns="0" wrap="square"/>
            <a:p/>
          </p:txBody>
        </p:sp>
        <p:sp>
          <p:nvSpPr>
            <p:cNvPr id="104864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ah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bIns="0" lIns="0" rIns="0" rtlCol="0" tIns="0" wrap="square"/>
            <a:p/>
          </p:txBody>
        </p:sp>
        <p:pic>
          <p:nvPicPr>
            <p:cNvPr id="2097160" name="object 5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8658225" y="2647950"/>
              <a:ext cx="3533775" cy="3810000"/>
            </a:xfrm>
            <a:prstGeom prst="rect"/>
          </p:spPr>
        </p:pic>
      </p:grpSp>
      <p:sp>
        <p:nvSpPr>
          <p:cNvPr id="1048645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46" name="object 7"/>
          <p:cNvSpPr txBox="1">
            <a:spLocks noGrp="1"/>
          </p:cNvSpPr>
          <p:nvPr>
            <p:ph type="title"/>
          </p:nvPr>
        </p:nvSpPr>
        <p:spPr>
          <a:xfrm>
            <a:off x="739775" y="849312"/>
            <a:ext cx="5263515" cy="638810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  <a:tabLst>
                <a:tab algn="l" pos="2642870"/>
              </a:tabLst>
            </a:pPr>
            <a:r>
              <a:rPr sz="4250" spc="5" smtClean="0"/>
              <a:t>PROJECT</a:t>
            </a:r>
            <a:r>
              <a:rPr dirty="0" sz="4250" lang="en-US" spc="5" smtClean="0"/>
              <a:t> </a:t>
            </a:r>
            <a:r>
              <a:rPr sz="4250" spc="-20" smtClean="0"/>
              <a:t>OVERVIEW</a:t>
            </a:r>
            <a:endParaRPr sz="4250"/>
          </a:p>
        </p:txBody>
      </p:sp>
      <p:sp>
        <p:nvSpPr>
          <p:cNvPr id="1048647" name="object 10"/>
          <p:cNvSpPr txBox="1">
            <a:spLocks noGrp="1"/>
          </p:cNvSpPr>
          <p:nvPr>
            <p:ph type="sldNum" sz="quarter" idx="12"/>
          </p:nvPr>
        </p:nvSpPr>
        <p:spPr>
          <a:xfrm>
            <a:off x="8737600" y="6446527"/>
            <a:ext cx="2844800" cy="184785"/>
          </a:xfrm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pPr marL="38100">
                <a:lnSpc>
                  <a:spcPct val="100000"/>
                </a:lnSpc>
                <a:spcBef>
                  <a:spcPts val="55"/>
                </a:spcBef>
              </a:pPr>
              <a:t>5</a:t>
            </a:fld>
            <a:endParaRPr dirty="0" spc="10"/>
          </a:p>
        </p:txBody>
      </p:sp>
      <p:pic>
        <p:nvPicPr>
          <p:cNvPr id="2097161" name="object 8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/>
        </p:spPr>
      </p:pic>
      <p:sp>
        <p:nvSpPr>
          <p:cNvPr id="1048648" name="Rectangle 1"/>
          <p:cNvSpPr>
            <a:spLocks noChangeArrowheads="1"/>
          </p:cNvSpPr>
          <p:nvPr/>
        </p:nvSpPr>
        <p:spPr bwMode="auto">
          <a:xfrm rot="10800000" flipV="1">
            <a:off x="161925" y="1488122"/>
            <a:ext cx="8915400" cy="6446519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ctr" anchorCtr="0" bIns="0" compatLnSpc="1" lIns="0" numCol="1" rIns="0" tIns="45720" vert="horz" wrap="square">
            <a:prstTxWarp prst="textNoShape"/>
            <a:spAutoFit/>
          </a:bodyPr>
          <a:p>
            <a:pPr algn="l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Project Overview</a:t>
            </a:r>
            <a:endParaRPr baseline="0" b="1" cap="none" dirty="0" sz="2400" i="0" kumimoji="0" lang="en-US" normalizeH="0" strike="noStrike" u="none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Project Title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Redesign of College Website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Project Description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The goal of this project is to redesign the existing college website to improve its usability, accessibility, and overall effectiveness. The new design should provide a better user experience for students, faculty, and prospective students.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Objectives</a:t>
            </a:r>
            <a:endParaRPr baseline="0" b="0" cap="none" dirty="0" sz="2400" i="0" kumimoji="0" lang="en-US" normalizeH="0" strike="noStrike" u="none" smtClean="0">
              <a:ln>
                <a:noFill/>
              </a:ln>
              <a:solidFill>
                <a:schemeClr val="tx1"/>
              </a:solidFill>
              <a:effectLst/>
              <a:latin typeface="var(--body-font-family)"/>
              <a:cs typeface="Arial" pitchFamily="34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baseline="0" b="1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var(--body-font-family)"/>
                <a:cs typeface="Arial" pitchFamily="34" charset="0"/>
              </a:rPr>
              <a:t>Improve Usability</a:t>
            </a: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var(--body-font-family)"/>
                <a:cs typeface="Arial" pitchFamily="34" charset="0"/>
              </a:rPr>
              <a:t>: Simplify navigation and make it easier for users to find information.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baseline="0" b="1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var(--body-font-family)"/>
                <a:cs typeface="Arial" pitchFamily="34" charset="0"/>
              </a:rPr>
              <a:t>Enhance Accessibility</a:t>
            </a: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var(--body-font-family)"/>
                <a:cs typeface="Arial" pitchFamily="34" charset="0"/>
              </a:rPr>
              <a:t>: Ensure the website is accessible on various devices and browsers.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baseline="0" b="1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var(--body-font-family)"/>
                <a:cs typeface="Arial" pitchFamily="34" charset="0"/>
              </a:rPr>
              <a:t>Increase Engagement</a:t>
            </a: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var(--body-font-family)"/>
                <a:cs typeface="Arial" pitchFamily="34" charset="0"/>
              </a:rPr>
              <a:t>: Create a visually appealing design that showcases the college's brand and values.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Scope</a:t>
            </a:r>
            <a:endParaRPr baseline="0" b="0" cap="none" dirty="0" sz="2400" i="0" kumimoji="0" lang="en-US" normalizeH="0" strike="noStrike" u="none" smtClean="0">
              <a:ln>
                <a:noFill/>
              </a:ln>
              <a:solidFill>
                <a:schemeClr val="tx1"/>
              </a:solidFill>
              <a:effectLst/>
              <a:latin typeface="var(--body-font-family)"/>
              <a:cs typeface="Arial" pitchFamily="34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baseline="0" b="1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var(--body-font-family)"/>
                <a:cs typeface="Arial" pitchFamily="34" charset="0"/>
              </a:rPr>
              <a:t>Website Redesign</a:t>
            </a: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var(--body-font-family)"/>
                <a:cs typeface="Arial" pitchFamily="34" charset="0"/>
              </a:rPr>
              <a:t>: Redesign the existing website's layout, navigation, and content</a:t>
            </a: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var(--body-font-family)"/>
                <a:cs typeface="Arial" pitchFamily="34" charset="0"/>
              </a:rPr>
              <a:t>.</a:t>
            </a:r>
            <a:endParaRPr baseline="0" b="0" cap="none" dirty="0" sz="2400" i="0" kumimoji="0" lang="en-US" normalizeH="0" strike="noStrike" u="none" smtClean="0">
              <a:ln>
                <a:noFill/>
              </a:ln>
              <a:solidFill>
                <a:schemeClr val="tx1"/>
              </a:solidFill>
              <a:effectLst/>
              <a:latin typeface="var(--body-font-family)"/>
              <a:cs typeface="Arial" pitchFamily="34" charset="0"/>
            </a:endParaRPr>
          </a:p>
        </p:txBody>
      </p:sp>
    </p:spTree>
  </p:cSld>
  <p:clrMapOvr>
    <a:masterClrMapping/>
  </p:clrMapOvr>
  <p:timing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object 2"/>
          <p:cNvSpPr/>
          <p:nvPr/>
        </p:nvSpPr>
        <p:spPr>
          <a:xfrm>
            <a:off x="9353550" y="536257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50" name="object 3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51" name="object 4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sp>
        <p:nvSpPr>
          <p:cNvPr id="1048652" name="object 5"/>
          <p:cNvSpPr txBox="1">
            <a:spLocks noGrp="1"/>
          </p:cNvSpPr>
          <p:nvPr>
            <p:ph type="title"/>
          </p:nvPr>
        </p:nvSpPr>
        <p:spPr>
          <a:xfrm>
            <a:off x="699452" y="891793"/>
            <a:ext cx="5014595" cy="518159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200" spc="25"/>
              <a:t>W</a:t>
            </a:r>
            <a:r>
              <a:rPr dirty="0" sz="3200" spc="-20"/>
              <a:t>H</a:t>
            </a:r>
            <a:r>
              <a:rPr dirty="0" sz="3200" spc="20"/>
              <a:t>O</a:t>
            </a:r>
            <a:r>
              <a:rPr dirty="0" sz="3200" spc="-235"/>
              <a:t> </a:t>
            </a:r>
            <a:r>
              <a:rPr dirty="0" sz="3200" spc="-10"/>
              <a:t>AR</a:t>
            </a:r>
            <a:r>
              <a:rPr dirty="0" sz="3200" spc="15"/>
              <a:t>E</a:t>
            </a:r>
            <a:r>
              <a:rPr dirty="0" sz="3200" spc="-35"/>
              <a:t> </a:t>
            </a:r>
            <a:r>
              <a:rPr dirty="0" sz="3200" spc="-10"/>
              <a:t>T</a:t>
            </a:r>
            <a:r>
              <a:rPr dirty="0" sz="3200" spc="-15"/>
              <a:t>H</a:t>
            </a:r>
            <a:r>
              <a:rPr dirty="0" sz="3200" spc="15"/>
              <a:t>E</a:t>
            </a:r>
            <a:r>
              <a:rPr dirty="0" sz="3200" spc="-35"/>
              <a:t> </a:t>
            </a:r>
            <a:r>
              <a:rPr dirty="0" sz="3200" spc="-20"/>
              <a:t>E</a:t>
            </a:r>
            <a:r>
              <a:rPr dirty="0" sz="3200" spc="30"/>
              <a:t>N</a:t>
            </a:r>
            <a:r>
              <a:rPr dirty="0" sz="3200" spc="15"/>
              <a:t>D</a:t>
            </a:r>
            <a:r>
              <a:rPr dirty="0" sz="3200" spc="-45"/>
              <a:t> </a:t>
            </a:r>
            <a:r>
              <a:rPr dirty="0" sz="3200"/>
              <a:t>U</a:t>
            </a:r>
            <a:r>
              <a:rPr dirty="0" sz="3200" spc="10"/>
              <a:t>S</a:t>
            </a:r>
            <a:r>
              <a:rPr dirty="0" sz="3200" spc="-25"/>
              <a:t>E</a:t>
            </a:r>
            <a:r>
              <a:rPr dirty="0" sz="3200" spc="-10"/>
              <a:t>R</a:t>
            </a:r>
            <a:r>
              <a:rPr dirty="0" sz="3200" spc="5"/>
              <a:t>S?</a:t>
            </a:r>
            <a:endParaRPr sz="3200"/>
          </a:p>
        </p:txBody>
      </p:sp>
      <p:sp>
        <p:nvSpPr>
          <p:cNvPr id="1048653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8737600" y="6446527"/>
            <a:ext cx="2844800" cy="184785"/>
          </a:xfrm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pPr marL="38100">
                <a:lnSpc>
                  <a:spcPct val="100000"/>
                </a:lnSpc>
                <a:spcBef>
                  <a:spcPts val="55"/>
                </a:spcBef>
              </a:pPr>
              <a:t>6</a:t>
            </a:fld>
            <a:endParaRPr dirty="0" spc="10"/>
          </a:p>
        </p:txBody>
      </p:sp>
      <p:pic>
        <p:nvPicPr>
          <p:cNvPr id="2097162" name="object 6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723900" y="6172200"/>
            <a:ext cx="2181225" cy="485775"/>
          </a:xfrm>
          <a:prstGeom prst="rect"/>
        </p:spPr>
      </p:pic>
      <p:sp>
        <p:nvSpPr>
          <p:cNvPr id="1048654" name="Rectangle 1"/>
          <p:cNvSpPr>
            <a:spLocks noChangeArrowheads="1"/>
          </p:cNvSpPr>
          <p:nvPr/>
        </p:nvSpPr>
        <p:spPr bwMode="auto">
          <a:xfrm rot="10800000" flipV="1">
            <a:off x="266700" y="1409952"/>
            <a:ext cx="11658600" cy="6395720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ctr" anchorCtr="0" bIns="0" compatLnSpc="1" lIns="0" numCol="1" rIns="0" tIns="45720" vert="horz" wrap="square">
            <a:prstTxWarp prst="textNoShape"/>
            <a:spAutoFit/>
          </a:bodyPr>
          <a:p>
            <a:pPr algn="l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Primary End-Users</a:t>
            </a:r>
            <a:endParaRPr baseline="0" b="0" cap="none" dirty="0" sz="2400" i="0" kumimoji="0" lang="en-US" normalizeH="0" strike="noStrike" u="none" smtClean="0">
              <a:ln>
                <a:noFill/>
              </a:ln>
              <a:solidFill>
                <a:schemeClr val="tx1"/>
              </a:solidFill>
              <a:effectLst/>
              <a:latin typeface="var(--body-font-family)"/>
              <a:cs typeface="Arial" pitchFamily="34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baseline="0" b="1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var(--body-font-family)"/>
                <a:cs typeface="Arial" pitchFamily="34" charset="0"/>
              </a:rPr>
              <a:t>Prospective Students</a:t>
            </a: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var(--body-font-family)"/>
                <a:cs typeface="Arial" pitchFamily="34" charset="0"/>
              </a:rPr>
              <a:t>: Individuals interested in learning more about the college, its programs, and admissions process.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baseline="0" b="1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var(--body-font-family)"/>
                <a:cs typeface="Arial" pitchFamily="34" charset="0"/>
              </a:rPr>
              <a:t>Current Students</a:t>
            </a: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var(--body-font-family)"/>
                <a:cs typeface="Arial" pitchFamily="34" charset="0"/>
              </a:rPr>
              <a:t>: Enrolled students who use the website to access resources, information, and services.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baseline="0" b="1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var(--body-font-family)"/>
                <a:cs typeface="Arial" pitchFamily="34" charset="0"/>
              </a:rPr>
              <a:t>Faculty and Staff</a:t>
            </a: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var(--body-font-family)"/>
                <a:cs typeface="Arial" pitchFamily="34" charset="0"/>
              </a:rPr>
              <a:t>: Employees of the college who use the website to access resources, information, and services.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Secondary End-Users</a:t>
            </a:r>
            <a:endParaRPr baseline="0" b="0" cap="none" dirty="0" sz="2400" i="0" kumimoji="0" lang="en-US" normalizeH="0" strike="noStrike" u="none" smtClean="0">
              <a:ln>
                <a:noFill/>
              </a:ln>
              <a:solidFill>
                <a:schemeClr val="tx1"/>
              </a:solidFill>
              <a:effectLst/>
              <a:latin typeface="var(--body-font-family)"/>
              <a:cs typeface="Arial" pitchFamily="34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baseline="0" b="1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var(--body-font-family)"/>
                <a:cs typeface="Arial" pitchFamily="34" charset="0"/>
              </a:rPr>
              <a:t>Alumni</a:t>
            </a: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var(--body-font-family)"/>
                <a:cs typeface="Arial" pitchFamily="34" charset="0"/>
              </a:rPr>
              <a:t>: Graduates of the college who may use the website to stay connected with the college community.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baseline="0" b="1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var(--body-font-family)"/>
                <a:cs typeface="Arial" pitchFamily="34" charset="0"/>
              </a:rPr>
              <a:t>Parents and Guardians</a:t>
            </a: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var(--body-font-family)"/>
                <a:cs typeface="Arial" pitchFamily="34" charset="0"/>
              </a:rPr>
              <a:t>: Family members of current or prospective students who may use the website to access information.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baseline="0" b="1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var(--body-font-family)"/>
                <a:cs typeface="Arial" pitchFamily="34" charset="0"/>
              </a:rPr>
              <a:t>Community Members</a:t>
            </a: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var(--body-font-family)"/>
                <a:cs typeface="Arial" pitchFamily="34" charset="0"/>
              </a:rPr>
              <a:t>: Local residents, businesses, or organizations that may use the website to access information or resources.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Additional End-Users</a:t>
            </a:r>
            <a:endParaRPr baseline="0" b="0" cap="none" dirty="0" sz="2400" i="0" kumimoji="0" lang="en-US" normalizeH="0" strike="noStrike" u="none" smtClean="0">
              <a:ln>
                <a:noFill/>
              </a:ln>
              <a:solidFill>
                <a:schemeClr val="tx1"/>
              </a:solidFill>
              <a:effectLst/>
              <a:latin typeface="var(--body-font-family)"/>
              <a:cs typeface="Arial" pitchFamily="34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baseline="0" b="1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var(--body-font-family)"/>
                <a:cs typeface="Arial" pitchFamily="34" charset="0"/>
              </a:rPr>
              <a:t>Employers and Recruiters</a:t>
            </a: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var(--body-font-family)"/>
                <a:cs typeface="Arial" pitchFamily="34" charset="0"/>
              </a:rPr>
              <a:t>: Organizations or individuals seeking to hire graduates or partner with the college.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endParaRPr baseline="0" b="0" cap="none" dirty="0" sz="2000" i="0" kumimoji="0" lang="en-US" normalizeH="0" strike="noStrike" u="none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3" name="object 2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0" y="1476375"/>
            <a:ext cx="2695574" cy="3248025"/>
          </a:xfrm>
          <a:prstGeom prst="rect"/>
        </p:spPr>
      </p:pic>
      <p:sp>
        <p:nvSpPr>
          <p:cNvPr id="1048655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56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57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sp>
        <p:nvSpPr>
          <p:cNvPr id="1048658" name="object 6"/>
          <p:cNvSpPr txBox="1">
            <a:spLocks noGrp="1"/>
          </p:cNvSpPr>
          <p:nvPr>
            <p:ph type="title"/>
          </p:nvPr>
        </p:nvSpPr>
        <p:spPr>
          <a:xfrm>
            <a:off x="685800" y="547687"/>
            <a:ext cx="9763125" cy="546736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 lang="en-IN" spc="10"/>
              <a:t>TOOLS AND TECHNIQUES</a:t>
            </a:r>
            <a:endParaRPr dirty="0" sz="3600"/>
          </a:p>
        </p:txBody>
      </p:sp>
      <p:sp>
        <p:nvSpPr>
          <p:cNvPr id="1048659" name="object 9"/>
          <p:cNvSpPr txBox="1">
            <a:spLocks noGrp="1"/>
          </p:cNvSpPr>
          <p:nvPr>
            <p:ph type="sldNum" sz="quarter" idx="12"/>
          </p:nvPr>
        </p:nvSpPr>
        <p:spPr>
          <a:xfrm>
            <a:off x="8737600" y="6446527"/>
            <a:ext cx="2844800" cy="184785"/>
          </a:xfrm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pPr marL="38100">
                <a:lnSpc>
                  <a:spcPct val="100000"/>
                </a:lnSpc>
                <a:spcBef>
                  <a:spcPts val="55"/>
                </a:spcBef>
              </a:pPr>
              <a:t>7</a:t>
            </a:fld>
            <a:endParaRPr dirty="0" spc="10"/>
          </a:p>
        </p:txBody>
      </p:sp>
      <p:pic>
        <p:nvPicPr>
          <p:cNvPr id="2097164" name="object 7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/>
        </p:spPr>
      </p:pic>
      <p:sp>
        <p:nvSpPr>
          <p:cNvPr id="1048660" name="Rectangle 1"/>
          <p:cNvSpPr>
            <a:spLocks noChangeArrowheads="1"/>
          </p:cNvSpPr>
          <p:nvPr/>
        </p:nvSpPr>
        <p:spPr bwMode="auto">
          <a:xfrm>
            <a:off x="3124200" y="130468"/>
            <a:ext cx="9067800" cy="7868919"/>
          </a:xfrm>
          <a:prstGeom prst="rect"/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anchor="ctr" anchorCtr="0" bIns="0" compatLnSpc="1" lIns="0" numCol="1" rIns="0" tIns="45720" vert="horz" wrap="square">
            <a:prstTxWarp prst="textNoShape"/>
            <a:spAutoFit/>
          </a:bodyPr>
          <a:p>
            <a:pPr algn="l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Design Tools</a:t>
            </a:r>
            <a:endParaRPr baseline="0" b="0" cap="none" dirty="0" sz="2400" i="0" kumimoji="0" lang="en-US" normalizeH="0" strike="noStrike" u="none" smtClean="0">
              <a:ln>
                <a:noFill/>
              </a:ln>
              <a:solidFill>
                <a:srgbClr val="101112"/>
              </a:solidFill>
              <a:effectLst/>
              <a:latin typeface="var(--body-font-family)"/>
              <a:cs typeface="Arial" pitchFamily="34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baseline="0" b="1" cap="none" dirty="0" sz="24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var(--body-font-family)"/>
                <a:cs typeface="Arial" pitchFamily="34" charset="0"/>
              </a:rPr>
              <a:t>Adobe XD</a:t>
            </a: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var(--body-font-family)"/>
                <a:cs typeface="Arial" pitchFamily="34" charset="0"/>
              </a:rPr>
              <a:t>: A user experience design software for creating wireframes, prototypes, and high-fidelity designs.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baseline="0" b="1" cap="none" dirty="0" sz="24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var(--body-font-family)"/>
                <a:cs typeface="Arial" pitchFamily="34" charset="0"/>
              </a:rPr>
              <a:t>Sketch</a:t>
            </a: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var(--body-font-family)"/>
                <a:cs typeface="Arial" pitchFamily="34" charset="0"/>
              </a:rPr>
              <a:t>: A digital design tool for creating wireframes, prototypes, and high-fidelity designs.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baseline="0" b="1" cap="none" dirty="0" sz="2400" i="0" kumimoji="0" lang="en-US" normalizeH="0" err="1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var(--body-font-family)"/>
                <a:cs typeface="Arial" pitchFamily="34" charset="0"/>
              </a:rPr>
              <a:t>Figma</a:t>
            </a: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var(--body-font-family)"/>
                <a:cs typeface="Arial" pitchFamily="34" charset="0"/>
              </a:rPr>
              <a:t>: A cloud-based design tool for creating wireframes, prototypes, and high-fidelity designs.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</a:pPr>
            <a:r>
              <a:rPr baseline="0" b="1" cap="none" dirty="0" sz="2400" i="0" kumimoji="0" lang="en-US" normalizeH="0" err="1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var(--body-font-family)"/>
                <a:cs typeface="Arial" pitchFamily="34" charset="0"/>
              </a:rPr>
              <a:t>InVision</a:t>
            </a: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var(--body-font-family)"/>
                <a:cs typeface="Arial" pitchFamily="34" charset="0"/>
              </a:rPr>
              <a:t>: A design platform for creating prototypes, wireframes, and high-fidelity designs.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Development Tools</a:t>
            </a:r>
            <a:endParaRPr baseline="0" b="0" cap="none" dirty="0" sz="2400" i="0" kumimoji="0" lang="en-US" normalizeH="0" strike="noStrike" u="none" smtClean="0">
              <a:ln>
                <a:noFill/>
              </a:ln>
              <a:solidFill>
                <a:srgbClr val="101112"/>
              </a:solidFill>
              <a:effectLst/>
              <a:latin typeface="var(--body-font-family)"/>
              <a:cs typeface="Arial" pitchFamily="34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baseline="0" b="1" cap="none" dirty="0" sz="24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var(--body-font-family)"/>
                <a:cs typeface="Arial" pitchFamily="34" charset="0"/>
              </a:rPr>
              <a:t>HTML/CSS/JavaScript</a:t>
            </a: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var(--body-font-family)"/>
                <a:cs typeface="Arial" pitchFamily="34" charset="0"/>
              </a:rPr>
              <a:t>: Programming languages for building the website's structure, layout, and interactive elements.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baseline="0" b="1" cap="none" dirty="0" sz="2400" i="0" kumimoji="0" lang="en-US" normalizeH="0" err="1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var(--body-font-family)"/>
                <a:cs typeface="Arial" pitchFamily="34" charset="0"/>
              </a:rPr>
              <a:t>WordPress</a:t>
            </a: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var(--body-font-family)"/>
                <a:cs typeface="Arial" pitchFamily="34" charset="0"/>
              </a:rPr>
              <a:t>: A content management system (CMS) for building and managing the website's content.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baseline="0" b="1" cap="none" dirty="0" sz="24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var(--body-font-family)"/>
                <a:cs typeface="Arial" pitchFamily="34" charset="0"/>
              </a:rPr>
              <a:t>React</a:t>
            </a: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var(--body-font-family)"/>
                <a:cs typeface="Arial" pitchFamily="34" charset="0"/>
              </a:rPr>
              <a:t>: A JavaScript library for building reusable UI components.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</a:pPr>
            <a:r>
              <a:rPr baseline="0" b="1" cap="none" dirty="0" sz="24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var(--body-font-family)"/>
                <a:cs typeface="Arial" pitchFamily="34" charset="0"/>
              </a:rPr>
              <a:t>Node.js</a:t>
            </a: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var(--body-font-family)"/>
                <a:cs typeface="Arial" pitchFamily="34" charset="0"/>
              </a:rPr>
              <a:t>: A JavaScript runtime environment for building server-side applications.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Testing and Quality Assurance Tools</a:t>
            </a:r>
            <a:endParaRPr baseline="0" b="0" cap="none" dirty="0" sz="2400" i="0" kumimoji="0" lang="en-US" normalizeH="0" strike="noStrike" u="none" smtClean="0">
              <a:ln>
                <a:noFill/>
              </a:ln>
              <a:solidFill>
                <a:srgbClr val="101112"/>
              </a:solidFill>
              <a:effectLst/>
              <a:latin typeface="var(--body-font-family)"/>
              <a:cs typeface="Arial" pitchFamily="34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baseline="0" b="1" cap="none" dirty="0" sz="24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var(--body-font-family)"/>
                <a:cs typeface="Arial" pitchFamily="34" charset="0"/>
              </a:rPr>
              <a:t>Google Analytics</a:t>
            </a: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var(--body-font-family)"/>
                <a:cs typeface="Arial" pitchFamily="34" charset="0"/>
              </a:rPr>
              <a:t>: A web analytics tool for tracking website traffic, engagement, and conversion rates.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baseline="0" b="1" cap="none" dirty="0" sz="2400" i="0" kumimoji="0" lang="en-US" normalizeH="0" err="1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var(--body-font-family)"/>
                <a:cs typeface="Arial" pitchFamily="34" charset="0"/>
              </a:rPr>
              <a:t>UserTesting</a:t>
            </a: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var(--body-font-family)"/>
                <a:cs typeface="Arial" pitchFamily="34" charset="0"/>
              </a:rPr>
              <a:t>: A user testing platform for conducting usability testing and gathering feedback</a:t>
            </a:r>
            <a:r>
              <a:rPr baseline="0" b="0" cap="none" dirty="0" sz="24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var(--body-font-family)"/>
                <a:cs typeface="Arial" pitchFamily="34" charset="0"/>
              </a:rPr>
              <a:t>.</a:t>
            </a:r>
            <a:endParaRPr baseline="0" b="0" cap="none" dirty="0" sz="2400" i="0" kumimoji="0" lang="en-US" normalizeH="0" strike="noStrike" u="none" smtClean="0">
              <a:ln>
                <a:noFill/>
              </a:ln>
              <a:solidFill>
                <a:srgbClr val="101112"/>
              </a:solidFill>
              <a:effectLst/>
              <a:latin typeface="var(--body-font-family)"/>
              <a:cs typeface="Arial" pitchFamily="34" charset="0"/>
            </a:endParaRPr>
          </a:p>
        </p:txBody>
      </p:sp>
    </p:spTree>
  </p:cSld>
  <p:clrMapOvr>
    <a:masterClrMapping/>
  </p:clrMapOvr>
  <p:timing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pic>
        <p:nvPicPr>
          <p:cNvPr id="2097165" name="object 6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/>
        </p:spPr>
      </p:pic>
      <p:sp>
        <p:nvSpPr>
          <p:cNvPr id="1048662" name="object 9"/>
          <p:cNvSpPr txBox="1"/>
          <p:nvPr/>
        </p:nvSpPr>
        <p:spPr>
          <a:xfrm>
            <a:off x="11277218" y="6473337"/>
            <a:ext cx="228600" cy="191770"/>
          </a:xfrm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1100" spc="10">
                <a:solidFill>
                  <a:srgbClr val="2D936B"/>
                </a:solidFill>
                <a:latin typeface="Trebuchet MS"/>
                <a:cs typeface="Trebuchet MS"/>
              </a:rPr>
              <a:pPr marL="38100">
                <a:lnSpc>
                  <a:spcPct val="100000"/>
                </a:lnSpc>
                <a:spcBef>
                  <a:spcPts val="55"/>
                </a:spcBef>
              </a:pPr>
              <a:t>8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1048663" name="object 8"/>
          <p:cNvSpPr txBox="1"/>
          <p:nvPr/>
        </p:nvSpPr>
        <p:spPr>
          <a:xfrm>
            <a:off x="739775" y="291147"/>
            <a:ext cx="8794750" cy="629018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 sz="4000" lang="en-IN" spc="15">
                <a:latin typeface="Trebuchet MS"/>
                <a:cs typeface="Trebuchet MS"/>
              </a:rPr>
              <a:t>POTFOLIO DESIGN AND LAYOUT</a:t>
            </a:r>
            <a:endParaRPr dirty="0" sz="4000">
              <a:latin typeface="Trebuchet MS"/>
              <a:cs typeface="Trebuchet MS"/>
            </a:endParaRPr>
          </a:p>
        </p:txBody>
      </p:sp>
      <p:sp>
        <p:nvSpPr>
          <p:cNvPr id="1048664" name="object 3"/>
          <p:cNvSpPr/>
          <p:nvPr/>
        </p:nvSpPr>
        <p:spPr>
          <a:xfrm>
            <a:off x="10058400" y="525141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65" name="Rectangle 1"/>
          <p:cNvSpPr>
            <a:spLocks noChangeArrowheads="1"/>
          </p:cNvSpPr>
          <p:nvPr/>
        </p:nvSpPr>
        <p:spPr bwMode="auto">
          <a:xfrm rot="10800000" flipV="1">
            <a:off x="304800" y="280859"/>
            <a:ext cx="8153400" cy="7152639"/>
          </a:xfrm>
          <a:prstGeom prst="rect"/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anchor="ctr" anchorCtr="0" bIns="45720" compatLnSpc="1" lIns="0" numCol="1" rIns="0" tIns="45720" vert="horz" wrap="square">
            <a:prstTxWarp prst="textNoShape"/>
            <a:spAutoFit/>
          </a:bodyPr>
          <a:p>
            <a:pPr algn="l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Home Page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baseline="0" b="1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Header</a:t>
            </a: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: Name, profession/title (e.g., "Student Designer")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baseline="0" b="1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Hero Section</a:t>
            </a: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: High-quality image or video showcasing your work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baseline="0" b="1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Introduction</a:t>
            </a: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: Brief overview of your portfolio and goals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</a:pPr>
            <a:r>
              <a:rPr baseline="0" b="1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Call-to-Action (CTA)</a:t>
            </a: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: Link to your contact page or LinkedIn profile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Project Pages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baseline="0" b="1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Project Title</a:t>
            </a: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: Clear and concise title for each project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baseline="0" b="1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Project Description</a:t>
            </a: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: Brief overview of the project, including goals, challenges, and outcomes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baseline="0" b="1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Images and Videos</a:t>
            </a: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: Showcase your work with high-quality images and videos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</a:pPr>
            <a:r>
              <a:rPr baseline="0" b="1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Project Details</a:t>
            </a: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: Include relevant details, such as:</a:t>
            </a:r>
          </a:p>
          <a:p>
            <a:pPr algn="l" defTabSz="914400" eaLnBrk="0" fontAlgn="base" hangingPunct="0" indent="0" latinLnBrk="0" lvl="1" marL="4572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Date completed</a:t>
            </a:r>
          </a:p>
          <a:p>
            <a:pPr algn="l" defTabSz="914400" eaLnBrk="0" fontAlgn="base" hangingPunct="0" indent="0" latinLnBrk="0" lvl="1" marL="4572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Tools and software used</a:t>
            </a:r>
          </a:p>
          <a:p>
            <a:pPr algn="l" defTabSz="914400" eaLnBrk="0" fontAlgn="base" hangingPunct="0" indent="0" latinLnBrk="0" lvl="1" marL="4572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Your role in the project (if collaborative)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</a:pPr>
            <a:r>
              <a:rPr baseline="0" b="1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CTA</a:t>
            </a: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: Link to the next project or back to the home page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About Page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baseline="0" b="1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Professional Summary</a:t>
            </a: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: Brief overview of your education, skills, and experience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baseline="0" b="1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Bio</a:t>
            </a: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: More detailed information about your background, interests, and goals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baseline="0" b="0" cap="none" dirty="0" sz="4400" i="0" kumimoji="0" lang="en-US" normalizeH="0" strike="noStrike" u="none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IN"/>
              <a:t>FEATURES AND FUNCTIONALITY</a:t>
            </a:r>
          </a:p>
        </p:txBody>
      </p:sp>
      <p:sp>
        <p:nvSpPr>
          <p:cNvPr id="1048667" name="Rectangle 1"/>
          <p:cNvSpPr>
            <a:spLocks noChangeArrowheads="1"/>
          </p:cNvSpPr>
          <p:nvPr/>
        </p:nvSpPr>
        <p:spPr bwMode="auto">
          <a:xfrm rot="10800000" flipV="1">
            <a:off x="304800" y="-624034"/>
            <a:ext cx="8839200" cy="8580120"/>
          </a:xfrm>
          <a:prstGeom prst="rect"/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anchor="ctr" anchorCtr="0" bIns="0" compatLnSpc="1" lIns="0" numCol="1" rIns="0" tIns="45720" vert="horz" wrap="square">
            <a:prstTxWarp prst="textNoShape"/>
            <a:spAutoFit/>
          </a:bodyPr>
          <a:p>
            <a:pPr algn="l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Navigation and Layout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baseline="0" b="1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Responsive Design</a:t>
            </a: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: Ensure the portfolio is accessible and usable on various devices (desktops, laptops, tablets, </a:t>
            </a:r>
            <a:r>
              <a:rPr baseline="0" b="0" cap="none" dirty="0" sz="2000" i="0" kumimoji="0" lang="en-US" normalizeH="0" err="1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smartphones</a:t>
            </a: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)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baseline="0" b="1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Clear Navigation</a:t>
            </a: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: Organize content into clear sections (e.g., Home, Projects, About, Contact)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baseline="0" b="1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Consistent Layout</a:t>
            </a: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: Use a consistent layout throughout the portfolio to make it easy to navigate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Project Showcase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baseline="0" b="1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Project Grid</a:t>
            </a: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: Display projects in a grid or masonry layout to make it easy to browse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baseline="0" b="1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Project Details</a:t>
            </a: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: Include project details such as title, description, date, and tools used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baseline="0" b="1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Images and Videos</a:t>
            </a: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: Showcase project images and videos to demonstrate skills and accomplishments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</a:pPr>
            <a:r>
              <a:rPr baseline="0" b="1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Filtering and Sorting</a:t>
            </a: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: Allow visitors to filter and sort projects by category, date, or other relevant criteria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About and Contact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baseline="0" b="1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About Page</a:t>
            </a: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: Include a brief bio, education, skills, and experience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baseline="0" b="1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Contact Form</a:t>
            </a: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: Provide a contact form for visitors to send messages or inquiries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baseline="0" b="1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Social Media Links</a:t>
            </a: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: Link to professional social media profiles (e.g., LinkedIn, </a:t>
            </a:r>
            <a:r>
              <a:rPr baseline="0" b="0" cap="none" dirty="0" sz="2000" i="0" kumimoji="0" lang="en-US" normalizeH="0" err="1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GitHub</a:t>
            </a: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)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Blog and Writing Samples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baseline="0" b="1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Blog</a:t>
            </a: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: Include a blog to showcase writing skills and share knowledge on industry topics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baseline="0" b="1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Writing Samples</a:t>
            </a: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: Showcase writing samples, such as articles, essays, or research papers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Interactivity and </a:t>
            </a: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Engagement</a:t>
            </a:r>
            <a:endParaRPr baseline="0" b="0" cap="none" dirty="0" sz="2000" i="0" kumimoji="0" lang="en-US" normalizeH="0" strike="noStrike" u="none" smtClean="0">
              <a:ln>
                <a:noFill/>
              </a:ln>
              <a:solidFill>
                <a:srgbClr val="101112"/>
              </a:solidFill>
              <a:effectLst/>
              <a:latin typeface="Optimistic AI VF"/>
              <a:cs typeface="Arial" pitchFamily="34" charset="0"/>
            </a:endParaRPr>
          </a:p>
        </p:txBody>
      </p:sp>
    </p:spTree>
  </p:cSld>
  <p:clrMapOvr>
    <a:masterClrMapping/>
  </p:clrMapOvr>
  <p:timing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object 2"/>
          <p:cNvSpPr txBox="1"/>
          <p:nvPr/>
        </p:nvSpPr>
        <p:spPr>
          <a:xfrm>
            <a:off x="752475" y="6486037"/>
            <a:ext cx="1773555" cy="166370"/>
          </a:xfrm>
          <a:prstGeom prst="rect"/>
        </p:spPr>
        <p:txBody>
          <a:bodyPr bIns="0" lIns="0" rIns="0" rtlCol="0" tIns="0" vert="horz" wrap="square">
            <a:spAutoFit/>
          </a:bodyPr>
          <a:p>
            <a:pPr>
              <a:lnSpc>
                <a:spcPts val="1275"/>
              </a:lnSpc>
            </a:pPr>
            <a:r>
              <a:rPr dirty="0" sz="1100" spc="2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dirty="0" sz="1100" spc="1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dirty="0" sz="110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dirty="0" sz="1100" spc="13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b="1" dirty="0" sz="1100" spc="5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b="1" dirty="0" sz="1100" spc="15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b="1" dirty="0" sz="1100" spc="1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b="1" dirty="0" sz="1100" spc="-14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b="1" dirty="0" sz="110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b="1" dirty="0" sz="1100" spc="35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b="1" dirty="0" sz="1100" spc="9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b="1" dirty="0" sz="1100" spc="-35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b="1" dirty="0" sz="1100" spc="35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b="1" dirty="0" sz="1100" spc="15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048669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70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71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pic>
        <p:nvPicPr>
          <p:cNvPr id="2097166" name="object 6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66675" y="3381373"/>
            <a:ext cx="2466975" cy="3419475"/>
          </a:xfrm>
          <a:prstGeom prst="rect"/>
        </p:spPr>
      </p:pic>
      <p:sp>
        <p:nvSpPr>
          <p:cNvPr id="1048672" name="object 7"/>
          <p:cNvSpPr txBox="1">
            <a:spLocks noGrp="1"/>
          </p:cNvSpPr>
          <p:nvPr>
            <p:ph type="title"/>
          </p:nvPr>
        </p:nvSpPr>
        <p:spPr>
          <a:xfrm>
            <a:off x="739775" y="670881"/>
            <a:ext cx="8480425" cy="638810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250" lang="en-IN" spc="15"/>
              <a:t>RESULTS AND SCREENSHOTS</a:t>
            </a:r>
            <a:endParaRPr dirty="0" sz="4250"/>
          </a:p>
        </p:txBody>
      </p:sp>
      <p:sp>
        <p:nvSpPr>
          <p:cNvPr id="1048673" name="object 8"/>
          <p:cNvSpPr txBox="1"/>
          <p:nvPr/>
        </p:nvSpPr>
        <p:spPr>
          <a:xfrm>
            <a:off x="11277218" y="6473337"/>
            <a:ext cx="228600" cy="191770"/>
          </a:xfrm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1100" spc="10">
                <a:solidFill>
                  <a:srgbClr val="2D936B"/>
                </a:solidFill>
                <a:latin typeface="Trebuchet MS"/>
                <a:cs typeface="Trebuchet MS"/>
              </a:rPr>
              <a:pPr marL="38100">
                <a:lnSpc>
                  <a:spcPct val="100000"/>
                </a:lnSpc>
                <a:spcBef>
                  <a:spcPts val="55"/>
                </a:spcBef>
              </a:pPr>
              <a:t>10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1048674" name="TextBox 8"/>
          <p:cNvSpPr txBox="1"/>
          <p:nvPr/>
        </p:nvSpPr>
        <p:spPr>
          <a:xfrm>
            <a:off x="2743200" y="2354703"/>
            <a:ext cx="8534018" cy="954107"/>
          </a:xfrm>
          <a:prstGeom prst="rect"/>
          <a:noFill/>
        </p:spPr>
        <p:txBody>
          <a:bodyPr rtlCol="0" wrap="square">
            <a:spAutoFit/>
          </a:bodyPr>
          <a:p>
            <a:pPr algn="l">
              <a:buFont typeface="Arial" panose="020B0604020202020204" pitchFamily="34" charset="0"/>
              <a:buChar char="•"/>
            </a:pPr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 sz="28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75" name="Rectangle 1"/>
          <p:cNvSpPr>
            <a:spLocks noChangeArrowheads="1"/>
          </p:cNvSpPr>
          <p:nvPr/>
        </p:nvSpPr>
        <p:spPr bwMode="auto">
          <a:xfrm>
            <a:off x="2666999" y="1695450"/>
            <a:ext cx="9525000" cy="6225540"/>
          </a:xfrm>
          <a:prstGeom prst="rect"/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anchor="ctr" anchorCtr="0" bIns="45720" compatLnSpc="1" lIns="0" numCol="1" rIns="0" tIns="45720" vert="horz" wrap="square">
            <a:prstTxWarp prst="textNoShape"/>
            <a:spAutoFit/>
          </a:bodyPr>
          <a:p>
            <a:pPr algn="l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Results</a:t>
            </a:r>
            <a:endParaRPr baseline="0" b="0" cap="none" dirty="0" sz="2400" i="0" kumimoji="0" lang="en-US" normalizeH="0" strike="noStrike" u="none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Objective</a:t>
            </a:r>
            <a:endParaRPr baseline="0" b="0" cap="none" dirty="0" sz="2400" i="0" kumimoji="0" lang="en-US" normalizeH="0" strike="noStrike" u="none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The objective of this project was to create a professional online portfolio that showcases my skills, experience, and achievements as a [Your Major/Field] student.</a:t>
            </a:r>
            <a:endParaRPr baseline="0" b="0" cap="none" dirty="0" sz="2400" i="0" kumimoji="0" lang="en-US" normalizeH="0" strike="noStrike" u="none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Outcomes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baseline="0" b="1" cap="none" dirty="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Improved Online Presence</a:t>
            </a:r>
            <a:r>
              <a:rPr baseline="0" b="0" cap="none" dirty="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: I created a professional online portfolio that effectively showcases my skills, experience, and achievements.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baseline="0" b="1" cap="none" dirty="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Enhanced Career Readiness</a:t>
            </a:r>
            <a:r>
              <a:rPr baseline="0" b="0" cap="none" dirty="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: My portfolio demonstrates my career readiness and prepares me for job applications, internships, and graduate school.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baseline="0" b="1" cap="none" dirty="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Developed Technical Skills</a:t>
            </a:r>
            <a:r>
              <a:rPr baseline="0" b="0" cap="none" dirty="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: I developed technical skills in web design, development, and content creation.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Metrics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baseline="0" b="1" cap="none" dirty="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Page Views</a:t>
            </a:r>
            <a:r>
              <a:rPr baseline="0" b="0" cap="none" dirty="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: 500+ page views within the first month of launching the portfolio.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baseline="0" b="1" cap="none" dirty="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Bounce Rate</a:t>
            </a:r>
            <a:r>
              <a:rPr baseline="0" b="0" cap="none" dirty="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: 20% bounce rate, indicating that visitors are engaging with the content.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baseline="0" b="1" cap="none" dirty="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Time on Site</a:t>
            </a:r>
            <a:r>
              <a:rPr baseline="0" b="0" cap="none" dirty="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: Average time on site is 2 minutes, indicating that visitors are exploring the portfolio.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Screenshots</a:t>
            </a:r>
            <a:endParaRPr baseline="0" b="0" cap="none" dirty="0" sz="2400" i="0" kumimoji="0" lang="en-US" normalizeH="0" strike="noStrike" u="none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Home Page</a:t>
            </a:r>
            <a:endParaRPr baseline="0" b="0" cap="none" dirty="0" sz="2400" i="0" kumimoji="0" lang="en-US" normalizeH="0" strike="noStrike" u="none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[Insert screenshot of home page]</a:t>
            </a:r>
            <a:endParaRPr baseline="0" b="0" cap="none" dirty="0" sz="2400" i="0" kumimoji="0" lang="en-US" normalizeH="0" strike="noStrike" u="none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Project Page</a:t>
            </a:r>
            <a:endParaRPr baseline="0" b="0" cap="none" dirty="0" sz="2400" i="0" kumimoji="0" lang="en-US" normalizeH="0" strike="noStrike" u="none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[Insert screenshot of project page]</a:t>
            </a:r>
            <a:endParaRPr baseline="0" b="0" cap="none" dirty="0" sz="2400" i="0" kumimoji="0" lang="en-US" normalizeH="0" strike="noStrike" u="none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About Page</a:t>
            </a:r>
            <a:endParaRPr baseline="0" b="0" cap="none" dirty="0" sz="2400" i="0" kumimoji="0" lang="en-US" normalizeH="0" strike="noStrike" u="none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[</a:t>
            </a:r>
            <a:endParaRPr baseline="0" b="0" cap="none" dirty="0" sz="3200" i="0" kumimoji="0" lang="en-US" normalizeH="0" strike="noStrike" u="none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Title 1"/>
          <p:cNvSpPr>
            <a:spLocks noGrp="1"/>
          </p:cNvSpPr>
          <p:nvPr>
            <p:ph type="ctrTitle"/>
          </p:nvPr>
        </p:nvSpPr>
        <p:spPr>
          <a:xfrm>
            <a:off x="914400" y="457201"/>
            <a:ext cx="10363200" cy="914400"/>
          </a:xfrm>
        </p:spPr>
        <p:txBody>
          <a:bodyPr/>
          <a:p>
            <a:endParaRPr dirty="0" lang="en-US"/>
          </a:p>
        </p:txBody>
      </p:sp>
      <p:sp>
        <p:nvSpPr>
          <p:cNvPr id="1048677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dirty="0" lang="en-US"/>
          </a:p>
        </p:txBody>
      </p:sp>
      <p:pic>
        <p:nvPicPr>
          <p:cNvPr id="2097172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-45271" y="0"/>
            <a:ext cx="6166077" cy="6858000"/>
          </a:xfrm>
          <a:prstGeom prst="rect"/>
        </p:spPr>
      </p:pic>
      <p:pic>
        <p:nvPicPr>
          <p:cNvPr id="2097174" name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0">
            <a:off x="6053638" y="0"/>
            <a:ext cx="6271445" cy="6858000"/>
          </a:xfrm>
          <a:prstGeom prst="rect"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79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80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pic>
        <p:nvPicPr>
          <p:cNvPr id="2097169" name="object 6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/>
        </p:spPr>
      </p:pic>
      <p:sp>
        <p:nvSpPr>
          <p:cNvPr id="1048681" name="object 7"/>
          <p:cNvSpPr txBox="1">
            <a:spLocks noGrp="1"/>
          </p:cNvSpPr>
          <p:nvPr>
            <p:ph type="title"/>
          </p:nvPr>
        </p:nvSpPr>
        <p:spPr>
          <a:xfrm>
            <a:off x="755332" y="424641"/>
            <a:ext cx="4578668" cy="673735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lang="en-IN"/>
              <a:t>CONCLUSION</a:t>
            </a:r>
            <a:endParaRPr dirty="0"/>
          </a:p>
        </p:txBody>
      </p:sp>
      <p:sp>
        <p:nvSpPr>
          <p:cNvPr id="1048682" name="object 9"/>
          <p:cNvSpPr txBox="1"/>
          <p:nvPr/>
        </p:nvSpPr>
        <p:spPr>
          <a:xfrm>
            <a:off x="11277218" y="6473337"/>
            <a:ext cx="228600" cy="191770"/>
          </a:xfrm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1100" spc="10">
                <a:solidFill>
                  <a:srgbClr val="2D936B"/>
                </a:solidFill>
                <a:latin typeface="Trebuchet MS"/>
                <a:cs typeface="Trebuchet MS"/>
              </a:rPr>
              <a:pPr marL="38100">
                <a:lnSpc>
                  <a:spcPct val="100000"/>
                </a:lnSpc>
                <a:spcBef>
                  <a:spcPts val="55"/>
                </a:spcBef>
              </a:pPr>
              <a:t>12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1048683" name="Rectangle 1"/>
          <p:cNvSpPr>
            <a:spLocks noChangeArrowheads="1"/>
          </p:cNvSpPr>
          <p:nvPr/>
        </p:nvSpPr>
        <p:spPr bwMode="auto">
          <a:xfrm>
            <a:off x="228600" y="1530637"/>
            <a:ext cx="18192452" cy="4358641"/>
          </a:xfrm>
          <a:prstGeom prst="rect"/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anchor="ctr" anchorCtr="0" bIns="45720" compatLnSpc="1" lIns="0" numCol="1" rIns="0" tIns="45720" vert="horz" wrap="none">
            <a:prstTxWarp prst="textNoShape"/>
            <a:spAutoFit/>
          </a:bodyPr>
          <a:p>
            <a:pPr algn="l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Results</a:t>
            </a:r>
            <a:endParaRPr baseline="0" b="0" cap="none" dirty="0" sz="2800" i="0" kumimoji="0" lang="en-US" normalizeH="0" strike="noStrike" u="none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Objective</a:t>
            </a:r>
            <a:endParaRPr baseline="0" b="0" cap="none" dirty="0" sz="2800" i="0" kumimoji="0" lang="en-US" normalizeH="0" strike="noStrike" u="none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The objective of this project was to create a professional online portfolio that showcases my skills, experience, and achievements as a [Your Major/Field] student.</a:t>
            </a:r>
            <a:endParaRPr baseline="0" b="0" cap="none" dirty="0" sz="2800" i="0" kumimoji="0" lang="en-US" normalizeH="0" strike="noStrike" u="none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Outcomes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baseline="0" b="1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Improved Online Presence</a:t>
            </a: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: I created a professional online portfolio that effectively showcases my skills, experience, and achievements.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baseline="0" b="1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Enhanced Career Readiness</a:t>
            </a: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: My portfolio demonstrates my career readiness and prepares me for job applications, internships, and graduate school.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baseline="0" b="1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Developed Technical Skills</a:t>
            </a: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: I developed technical skills in web design, development, and content creation.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Metrics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baseline="0" b="1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Page Views</a:t>
            </a: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: 500+ page views within the first month of launching the portfolio.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baseline="0" b="1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Bounce Rate</a:t>
            </a: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: 20% bounce rate, indicating that visitors are engaging with the content.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baseline="0" b="1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Time on Site</a:t>
            </a: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: Average time on site is 2 minutes, indicating that visitors are exploring the portfolio.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Screenshots</a:t>
            </a:r>
            <a:endParaRPr baseline="0" b="0" cap="none" dirty="0" sz="2800" i="0" kumimoji="0" lang="en-US" normalizeH="0" strike="noStrike" u="none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Home Page</a:t>
            </a:r>
            <a:endParaRPr baseline="0" b="0" cap="none" dirty="0" sz="2800" i="0" kumimoji="0" lang="en-US" normalizeH="0" strike="noStrike" u="none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[Insert screenshot of home page</a:t>
            </a: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101112"/>
                </a:solidFill>
                <a:effectLst/>
                <a:latin typeface="Optimistic AI VF"/>
                <a:cs typeface="Arial" pitchFamily="34" charset="0"/>
              </a:rPr>
              <a:t>]</a:t>
            </a:r>
            <a:endParaRPr baseline="0" b="0" cap="none" dirty="0" sz="2800" i="0" kumimoji="0" lang="en-US" normalizeH="0" strike="noStrike" u="none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/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Face Mask Detection using Convolutional Neural Network (CNN)</dc:title>
  <dc:creator>Konduru Narasimha</dc:creator>
  <cp:lastModifiedBy>jnc</cp:lastModifiedBy>
  <dcterms:created xsi:type="dcterms:W3CDTF">2024-03-29T04:07:22Z</dcterms:created>
  <dcterms:modified xsi:type="dcterms:W3CDTF">2025-08-25T13:08:11Z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2024-03-21T00:00:00Z</vt:filetime>
  </property>
  <property fmtid="{D5CDD505-2E9C-101B-9397-08002B2CF9AE}" pid="3" name="LastSaved">
    <vt:filetime>2024-03-29T00:00:00Z</vt:filetime>
  </property>
  <property fmtid="{D5CDD505-2E9C-101B-9397-08002B2CF9AE}" pid="4" name="ICV">
    <vt:lpwstr>160e674bc5f1403baa5728176890d83e</vt:lpwstr>
  </property>
</Properties>
</file>